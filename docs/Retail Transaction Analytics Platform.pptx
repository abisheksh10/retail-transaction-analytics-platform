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023" dt="2026-10-12T05:09:32.37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F172A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rgbClr val="0F172A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F172A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0F172A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38200" y="2691109"/>
            <a:ext cx="5492115" cy="2438400"/>
          </a:xfrm>
          <a:custGeom>
            <a:avLst/>
            <a:gdLst/>
            <a:ahLst/>
            <a:cxnLst/>
            <a:rect l="l" t="t" r="r" b="b"/>
            <a:pathLst>
              <a:path w="5492115" h="2438400">
                <a:moveTo>
                  <a:pt x="5415426" y="2437803"/>
                </a:moveTo>
                <a:lnTo>
                  <a:pt x="76181" y="2437803"/>
                </a:lnTo>
                <a:lnTo>
                  <a:pt x="46528" y="2431817"/>
                </a:lnTo>
                <a:lnTo>
                  <a:pt x="22312" y="2415490"/>
                </a:lnTo>
                <a:lnTo>
                  <a:pt x="5986" y="2391275"/>
                </a:lnTo>
                <a:lnTo>
                  <a:pt x="0" y="2361622"/>
                </a:lnTo>
                <a:lnTo>
                  <a:pt x="0" y="76181"/>
                </a:lnTo>
                <a:lnTo>
                  <a:pt x="5986" y="46528"/>
                </a:lnTo>
                <a:lnTo>
                  <a:pt x="22312" y="22312"/>
                </a:lnTo>
                <a:lnTo>
                  <a:pt x="46528" y="5986"/>
                </a:lnTo>
                <a:lnTo>
                  <a:pt x="76181" y="0"/>
                </a:lnTo>
                <a:lnTo>
                  <a:pt x="5415426" y="0"/>
                </a:lnTo>
                <a:lnTo>
                  <a:pt x="5457692" y="12799"/>
                </a:lnTo>
                <a:lnTo>
                  <a:pt x="5485808" y="47028"/>
                </a:lnTo>
                <a:lnTo>
                  <a:pt x="5491607" y="76181"/>
                </a:lnTo>
                <a:lnTo>
                  <a:pt x="5491607" y="2361622"/>
                </a:lnTo>
                <a:lnTo>
                  <a:pt x="5485621" y="2391275"/>
                </a:lnTo>
                <a:lnTo>
                  <a:pt x="5469294" y="2415490"/>
                </a:lnTo>
                <a:lnTo>
                  <a:pt x="5445079" y="2431817"/>
                </a:lnTo>
                <a:lnTo>
                  <a:pt x="5415426" y="2437803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38200" y="2691109"/>
            <a:ext cx="5492115" cy="2438400"/>
          </a:xfrm>
          <a:custGeom>
            <a:avLst/>
            <a:gdLst/>
            <a:ahLst/>
            <a:cxnLst/>
            <a:rect l="l" t="t" r="r" b="b"/>
            <a:pathLst>
              <a:path w="5492115" h="2438400">
                <a:moveTo>
                  <a:pt x="0" y="76181"/>
                </a:moveTo>
                <a:lnTo>
                  <a:pt x="5986" y="46528"/>
                </a:lnTo>
                <a:lnTo>
                  <a:pt x="22312" y="22312"/>
                </a:lnTo>
                <a:lnTo>
                  <a:pt x="46528" y="5986"/>
                </a:lnTo>
                <a:lnTo>
                  <a:pt x="76181" y="0"/>
                </a:lnTo>
                <a:lnTo>
                  <a:pt x="5415426" y="0"/>
                </a:lnTo>
                <a:lnTo>
                  <a:pt x="5457692" y="12799"/>
                </a:lnTo>
                <a:lnTo>
                  <a:pt x="5485808" y="47028"/>
                </a:lnTo>
                <a:lnTo>
                  <a:pt x="5491607" y="76181"/>
                </a:lnTo>
                <a:lnTo>
                  <a:pt x="5491607" y="2361622"/>
                </a:lnTo>
                <a:lnTo>
                  <a:pt x="5485621" y="2391275"/>
                </a:lnTo>
                <a:lnTo>
                  <a:pt x="5469294" y="2415490"/>
                </a:lnTo>
                <a:lnTo>
                  <a:pt x="5445079" y="2431817"/>
                </a:lnTo>
                <a:lnTo>
                  <a:pt x="5415426" y="2437803"/>
                </a:lnTo>
                <a:lnTo>
                  <a:pt x="76181" y="2437803"/>
                </a:lnTo>
                <a:lnTo>
                  <a:pt x="46528" y="2431817"/>
                </a:lnTo>
                <a:lnTo>
                  <a:pt x="22312" y="2415490"/>
                </a:lnTo>
                <a:lnTo>
                  <a:pt x="5986" y="2391275"/>
                </a:lnTo>
                <a:lnTo>
                  <a:pt x="0" y="2361622"/>
                </a:lnTo>
                <a:lnTo>
                  <a:pt x="0" y="76181"/>
                </a:lnTo>
                <a:close/>
              </a:path>
            </a:pathLst>
          </a:custGeom>
          <a:ln w="9524">
            <a:solidFill>
              <a:srgbClr val="E1E7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672707" y="2633959"/>
            <a:ext cx="4681220" cy="2552700"/>
          </a:xfrm>
          <a:custGeom>
            <a:avLst/>
            <a:gdLst/>
            <a:ahLst/>
            <a:cxnLst/>
            <a:rect l="l" t="t" r="r" b="b"/>
            <a:pathLst>
              <a:path w="4681220" h="2552700">
                <a:moveTo>
                  <a:pt x="4604911" y="2552103"/>
                </a:moveTo>
                <a:lnTo>
                  <a:pt x="76180" y="2552103"/>
                </a:lnTo>
                <a:lnTo>
                  <a:pt x="46527" y="2546117"/>
                </a:lnTo>
                <a:lnTo>
                  <a:pt x="22312" y="2529791"/>
                </a:lnTo>
                <a:lnTo>
                  <a:pt x="5986" y="2505576"/>
                </a:lnTo>
                <a:lnTo>
                  <a:pt x="0" y="2475923"/>
                </a:lnTo>
                <a:lnTo>
                  <a:pt x="0" y="76180"/>
                </a:lnTo>
                <a:lnTo>
                  <a:pt x="5986" y="46527"/>
                </a:lnTo>
                <a:lnTo>
                  <a:pt x="22312" y="22312"/>
                </a:lnTo>
                <a:lnTo>
                  <a:pt x="46527" y="5986"/>
                </a:lnTo>
                <a:lnTo>
                  <a:pt x="76180" y="0"/>
                </a:lnTo>
                <a:lnTo>
                  <a:pt x="4604911" y="0"/>
                </a:lnTo>
                <a:lnTo>
                  <a:pt x="4647175" y="12799"/>
                </a:lnTo>
                <a:lnTo>
                  <a:pt x="4675292" y="47027"/>
                </a:lnTo>
                <a:lnTo>
                  <a:pt x="4681091" y="76180"/>
                </a:lnTo>
                <a:lnTo>
                  <a:pt x="4681091" y="2475923"/>
                </a:lnTo>
                <a:lnTo>
                  <a:pt x="4675105" y="2505576"/>
                </a:lnTo>
                <a:lnTo>
                  <a:pt x="4658779" y="2529791"/>
                </a:lnTo>
                <a:lnTo>
                  <a:pt x="4634564" y="2546117"/>
                </a:lnTo>
                <a:lnTo>
                  <a:pt x="4604911" y="2552103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6672707" y="2633959"/>
            <a:ext cx="4681220" cy="2552700"/>
          </a:xfrm>
          <a:custGeom>
            <a:avLst/>
            <a:gdLst/>
            <a:ahLst/>
            <a:cxnLst/>
            <a:rect l="l" t="t" r="r" b="b"/>
            <a:pathLst>
              <a:path w="4681220" h="2552700">
                <a:moveTo>
                  <a:pt x="0" y="76180"/>
                </a:moveTo>
                <a:lnTo>
                  <a:pt x="5986" y="46527"/>
                </a:lnTo>
                <a:lnTo>
                  <a:pt x="22312" y="22312"/>
                </a:lnTo>
                <a:lnTo>
                  <a:pt x="46527" y="5986"/>
                </a:lnTo>
                <a:lnTo>
                  <a:pt x="76180" y="0"/>
                </a:lnTo>
                <a:lnTo>
                  <a:pt x="4604911" y="0"/>
                </a:lnTo>
                <a:lnTo>
                  <a:pt x="4647175" y="12799"/>
                </a:lnTo>
                <a:lnTo>
                  <a:pt x="4675292" y="47027"/>
                </a:lnTo>
                <a:lnTo>
                  <a:pt x="4681091" y="76180"/>
                </a:lnTo>
                <a:lnTo>
                  <a:pt x="4681091" y="2475923"/>
                </a:lnTo>
                <a:lnTo>
                  <a:pt x="4675105" y="2505576"/>
                </a:lnTo>
                <a:lnTo>
                  <a:pt x="4658779" y="2529791"/>
                </a:lnTo>
                <a:lnTo>
                  <a:pt x="4634564" y="2546117"/>
                </a:lnTo>
                <a:lnTo>
                  <a:pt x="4604911" y="2552103"/>
                </a:lnTo>
                <a:lnTo>
                  <a:pt x="76180" y="2552103"/>
                </a:lnTo>
                <a:lnTo>
                  <a:pt x="46527" y="2546117"/>
                </a:lnTo>
                <a:lnTo>
                  <a:pt x="22312" y="2529791"/>
                </a:lnTo>
                <a:lnTo>
                  <a:pt x="5986" y="2505576"/>
                </a:lnTo>
                <a:lnTo>
                  <a:pt x="0" y="2475923"/>
                </a:lnTo>
                <a:lnTo>
                  <a:pt x="0" y="76180"/>
                </a:lnTo>
                <a:close/>
              </a:path>
            </a:pathLst>
          </a:custGeom>
          <a:ln w="9524">
            <a:solidFill>
              <a:srgbClr val="E1E7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6987032" y="4163317"/>
            <a:ext cx="4052570" cy="708660"/>
          </a:xfrm>
          <a:custGeom>
            <a:avLst/>
            <a:gdLst/>
            <a:ahLst/>
            <a:cxnLst/>
            <a:rect l="l" t="t" r="r" b="b"/>
            <a:pathLst>
              <a:path w="4052570" h="708660">
                <a:moveTo>
                  <a:pt x="3995293" y="708420"/>
                </a:moveTo>
                <a:lnTo>
                  <a:pt x="57148" y="708420"/>
                </a:lnTo>
                <a:lnTo>
                  <a:pt x="34904" y="703929"/>
                </a:lnTo>
                <a:lnTo>
                  <a:pt x="16738" y="691682"/>
                </a:lnTo>
                <a:lnTo>
                  <a:pt x="4491" y="673517"/>
                </a:lnTo>
                <a:lnTo>
                  <a:pt x="0" y="651272"/>
                </a:lnTo>
                <a:lnTo>
                  <a:pt x="0" y="57147"/>
                </a:lnTo>
                <a:lnTo>
                  <a:pt x="4491" y="34903"/>
                </a:lnTo>
                <a:lnTo>
                  <a:pt x="16738" y="16738"/>
                </a:lnTo>
                <a:lnTo>
                  <a:pt x="34904" y="4490"/>
                </a:lnTo>
                <a:lnTo>
                  <a:pt x="57148" y="0"/>
                </a:lnTo>
                <a:lnTo>
                  <a:pt x="3995293" y="0"/>
                </a:lnTo>
                <a:lnTo>
                  <a:pt x="4035703" y="16738"/>
                </a:lnTo>
                <a:lnTo>
                  <a:pt x="4052441" y="57147"/>
                </a:lnTo>
                <a:lnTo>
                  <a:pt x="4052441" y="651272"/>
                </a:lnTo>
                <a:lnTo>
                  <a:pt x="4047950" y="673517"/>
                </a:lnTo>
                <a:lnTo>
                  <a:pt x="4035703" y="691682"/>
                </a:lnTo>
                <a:lnTo>
                  <a:pt x="4017537" y="703929"/>
                </a:lnTo>
                <a:lnTo>
                  <a:pt x="3995293" y="708420"/>
                </a:lnTo>
                <a:close/>
              </a:path>
            </a:pathLst>
          </a:custGeom>
          <a:solidFill>
            <a:srgbClr val="E1E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F172A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F172A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5500" y="756158"/>
            <a:ext cx="600329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F172A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75374" y="3353732"/>
            <a:ext cx="5130800" cy="17710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rgbClr val="0F172A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25500" y="2060350"/>
            <a:ext cx="274574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94A3B8"/>
                </a:solidFill>
                <a:latin typeface="Courier New"/>
                <a:cs typeface="Courier New"/>
              </a:rPr>
              <a:t>TECHNICAL</a:t>
            </a:r>
            <a:r>
              <a:rPr sz="1050" b="1" spc="-5" dirty="0">
                <a:solidFill>
                  <a:srgbClr val="94A3B8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rgbClr val="94A3B8"/>
                </a:solidFill>
                <a:latin typeface="Courier New"/>
                <a:cs typeface="Courier New"/>
              </a:rPr>
              <a:t>ARCHITECTURE</a:t>
            </a:r>
            <a:r>
              <a:rPr sz="1050" b="1" spc="-5" dirty="0">
                <a:solidFill>
                  <a:srgbClr val="94A3B8"/>
                </a:solidFill>
                <a:latin typeface="Courier New"/>
                <a:cs typeface="Courier New"/>
              </a:rPr>
              <a:t> </a:t>
            </a:r>
            <a:r>
              <a:rPr sz="1050" b="1" spc="-10" dirty="0">
                <a:solidFill>
                  <a:srgbClr val="94A3B8"/>
                </a:solidFill>
                <a:latin typeface="Courier New"/>
                <a:cs typeface="Courier New"/>
              </a:rPr>
              <a:t>WALKTHROUGH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25500" y="2371245"/>
            <a:ext cx="82651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35" dirty="0">
                <a:solidFill>
                  <a:srgbClr val="F7FAFC"/>
                </a:solidFill>
              </a:rPr>
              <a:t>Retail</a:t>
            </a:r>
            <a:r>
              <a:rPr sz="3600" spc="-235" dirty="0">
                <a:solidFill>
                  <a:srgbClr val="F7FAFC"/>
                </a:solidFill>
              </a:rPr>
              <a:t> </a:t>
            </a:r>
            <a:r>
              <a:rPr sz="3600" spc="-125" dirty="0">
                <a:solidFill>
                  <a:srgbClr val="F7FAFC"/>
                </a:solidFill>
              </a:rPr>
              <a:t>Transaction</a:t>
            </a:r>
            <a:r>
              <a:rPr sz="3600" spc="-235" dirty="0">
                <a:solidFill>
                  <a:srgbClr val="F7FAFC"/>
                </a:solidFill>
              </a:rPr>
              <a:t> </a:t>
            </a:r>
            <a:r>
              <a:rPr sz="3600" spc="-55" dirty="0">
                <a:solidFill>
                  <a:srgbClr val="F7FAFC"/>
                </a:solidFill>
              </a:rPr>
              <a:t>Analytics</a:t>
            </a:r>
            <a:r>
              <a:rPr sz="3600" spc="-229" dirty="0">
                <a:solidFill>
                  <a:srgbClr val="F7FAFC"/>
                </a:solidFill>
              </a:rPr>
              <a:t> </a:t>
            </a:r>
            <a:r>
              <a:rPr sz="3600" spc="-70" dirty="0">
                <a:solidFill>
                  <a:srgbClr val="F7FAFC"/>
                </a:solidFill>
              </a:rPr>
              <a:t>Platform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833437" y="3212752"/>
            <a:ext cx="8772525" cy="1276350"/>
            <a:chOff x="833437" y="3212752"/>
            <a:chExt cx="8772525" cy="1276350"/>
          </a:xfrm>
        </p:grpSpPr>
        <p:sp>
          <p:nvSpPr>
            <p:cNvPr id="4" name="object 4"/>
            <p:cNvSpPr/>
            <p:nvPr/>
          </p:nvSpPr>
          <p:spPr>
            <a:xfrm>
              <a:off x="838200" y="3217515"/>
              <a:ext cx="8763000" cy="1266825"/>
            </a:xfrm>
            <a:custGeom>
              <a:avLst/>
              <a:gdLst/>
              <a:ahLst/>
              <a:cxnLst/>
              <a:rect l="l" t="t" r="r" b="b"/>
              <a:pathLst>
                <a:path w="8763000" h="1266825">
                  <a:moveTo>
                    <a:pt x="8686800" y="1266824"/>
                  </a:moveTo>
                  <a:lnTo>
                    <a:pt x="76199" y="1266824"/>
                  </a:lnTo>
                  <a:lnTo>
                    <a:pt x="46539" y="1260836"/>
                  </a:lnTo>
                  <a:lnTo>
                    <a:pt x="22318" y="1244506"/>
                  </a:lnTo>
                  <a:lnTo>
                    <a:pt x="5988" y="1220285"/>
                  </a:lnTo>
                  <a:lnTo>
                    <a:pt x="0" y="1190625"/>
                  </a:lnTo>
                  <a:lnTo>
                    <a:pt x="0" y="76199"/>
                  </a:lnTo>
                  <a:lnTo>
                    <a:pt x="5988" y="46539"/>
                  </a:lnTo>
                  <a:lnTo>
                    <a:pt x="22318" y="22318"/>
                  </a:lnTo>
                  <a:lnTo>
                    <a:pt x="46539" y="5988"/>
                  </a:lnTo>
                  <a:lnTo>
                    <a:pt x="76199" y="0"/>
                  </a:lnTo>
                  <a:lnTo>
                    <a:pt x="8686800" y="0"/>
                  </a:lnTo>
                  <a:lnTo>
                    <a:pt x="8729076" y="12802"/>
                  </a:lnTo>
                  <a:lnTo>
                    <a:pt x="8757199" y="47039"/>
                  </a:lnTo>
                  <a:lnTo>
                    <a:pt x="8762999" y="76199"/>
                  </a:lnTo>
                  <a:lnTo>
                    <a:pt x="8762999" y="1190625"/>
                  </a:lnTo>
                  <a:lnTo>
                    <a:pt x="8757011" y="1220285"/>
                  </a:lnTo>
                  <a:lnTo>
                    <a:pt x="8740681" y="1244506"/>
                  </a:lnTo>
                  <a:lnTo>
                    <a:pt x="8716460" y="1260836"/>
                  </a:lnTo>
                  <a:lnTo>
                    <a:pt x="8686800" y="1266824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38200" y="3217515"/>
              <a:ext cx="8763000" cy="1266825"/>
            </a:xfrm>
            <a:custGeom>
              <a:avLst/>
              <a:gdLst/>
              <a:ahLst/>
              <a:cxnLst/>
              <a:rect l="l" t="t" r="r" b="b"/>
              <a:pathLst>
                <a:path w="8763000" h="1266825">
                  <a:moveTo>
                    <a:pt x="0" y="76199"/>
                  </a:moveTo>
                  <a:lnTo>
                    <a:pt x="5988" y="46539"/>
                  </a:lnTo>
                  <a:lnTo>
                    <a:pt x="22318" y="22318"/>
                  </a:lnTo>
                  <a:lnTo>
                    <a:pt x="46539" y="5988"/>
                  </a:lnTo>
                  <a:lnTo>
                    <a:pt x="76199" y="0"/>
                  </a:lnTo>
                  <a:lnTo>
                    <a:pt x="8686800" y="0"/>
                  </a:lnTo>
                  <a:lnTo>
                    <a:pt x="8729076" y="12802"/>
                  </a:lnTo>
                  <a:lnTo>
                    <a:pt x="8757199" y="47039"/>
                  </a:lnTo>
                  <a:lnTo>
                    <a:pt x="8762999" y="76199"/>
                  </a:lnTo>
                  <a:lnTo>
                    <a:pt x="8762999" y="1190625"/>
                  </a:lnTo>
                  <a:lnTo>
                    <a:pt x="8757011" y="1220285"/>
                  </a:lnTo>
                  <a:lnTo>
                    <a:pt x="8740681" y="1244506"/>
                  </a:lnTo>
                  <a:lnTo>
                    <a:pt x="8716460" y="1260836"/>
                  </a:lnTo>
                  <a:lnTo>
                    <a:pt x="8686800" y="1266824"/>
                  </a:lnTo>
                  <a:lnTo>
                    <a:pt x="76199" y="1266824"/>
                  </a:lnTo>
                  <a:lnTo>
                    <a:pt x="46539" y="1260836"/>
                  </a:lnTo>
                  <a:lnTo>
                    <a:pt x="22318" y="1244506"/>
                  </a:lnTo>
                  <a:lnTo>
                    <a:pt x="5988" y="1220285"/>
                  </a:lnTo>
                  <a:lnTo>
                    <a:pt x="0" y="1190625"/>
                  </a:lnTo>
                  <a:lnTo>
                    <a:pt x="0" y="76199"/>
                  </a:lnTo>
                  <a:close/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101725" y="3354548"/>
            <a:ext cx="7492365" cy="672685"/>
          </a:xfrm>
          <a:prstGeom prst="rect">
            <a:avLst/>
          </a:prstGeom>
        </p:spPr>
        <p:txBody>
          <a:bodyPr vert="horz" wrap="square" lIns="0" tIns="94615" rIns="0" bIns="0" rtlCol="0" anchor="t">
            <a:spAutoFit/>
          </a:bodyPr>
          <a:lstStyle/>
          <a:p>
            <a:pPr marL="12700" marR="5080">
              <a:lnSpc>
                <a:spcPts val="2430"/>
              </a:lnSpc>
              <a:spcBef>
                <a:spcPts val="20"/>
              </a:spcBef>
            </a:pPr>
            <a:r>
              <a:rPr sz="1350" dirty="0">
                <a:solidFill>
                  <a:srgbClr val="CBD4E1"/>
                </a:solidFill>
                <a:latin typeface="Lucida Sans"/>
                <a:cs typeface="Lucida Sans"/>
              </a:rPr>
              <a:t>Scope:</a:t>
            </a:r>
            <a:r>
              <a:rPr sz="1350" spc="-30" dirty="0">
                <a:solidFill>
                  <a:srgbClr val="CBD4E1"/>
                </a:solidFill>
                <a:latin typeface="Lucida Sans"/>
                <a:cs typeface="Lucida Sans"/>
              </a:rPr>
              <a:t> Ingestion,</a:t>
            </a:r>
            <a:r>
              <a:rPr sz="1350" spc="-25" dirty="0">
                <a:solidFill>
                  <a:srgbClr val="CBD4E1"/>
                </a:solidFill>
                <a:latin typeface="Lucida Sans"/>
                <a:cs typeface="Lucida Sans"/>
              </a:rPr>
              <a:t> </a:t>
            </a:r>
            <a:r>
              <a:rPr sz="1350" spc="-40" dirty="0">
                <a:solidFill>
                  <a:srgbClr val="CBD4E1"/>
                </a:solidFill>
                <a:latin typeface="Lucida Sans"/>
                <a:cs typeface="Lucida Sans"/>
              </a:rPr>
              <a:t>transformation,</a:t>
            </a:r>
            <a:r>
              <a:rPr sz="1350" spc="-30" dirty="0">
                <a:solidFill>
                  <a:srgbClr val="CBD4E1"/>
                </a:solidFill>
                <a:latin typeface="Lucida Sans"/>
                <a:cs typeface="Lucida Sans"/>
              </a:rPr>
              <a:t> </a:t>
            </a:r>
            <a:r>
              <a:rPr sz="1350" spc="-20" dirty="0">
                <a:solidFill>
                  <a:srgbClr val="CBD4E1"/>
                </a:solidFill>
                <a:latin typeface="Lucida Sans"/>
                <a:cs typeface="Lucida Sans"/>
              </a:rPr>
              <a:t>and</a:t>
            </a:r>
            <a:r>
              <a:rPr sz="1350" spc="-25" dirty="0">
                <a:solidFill>
                  <a:srgbClr val="CBD4E1"/>
                </a:solidFill>
                <a:latin typeface="Lucida Sans"/>
                <a:cs typeface="Lucida Sans"/>
              </a:rPr>
              <a:t> </a:t>
            </a:r>
            <a:r>
              <a:rPr sz="1350" spc="-20" dirty="0">
                <a:solidFill>
                  <a:srgbClr val="CBD4E1"/>
                </a:solidFill>
                <a:latin typeface="Lucida Sans"/>
                <a:cs typeface="Lucida Sans"/>
              </a:rPr>
              <a:t>interactive</a:t>
            </a:r>
            <a:r>
              <a:rPr sz="1350" spc="-30" dirty="0">
                <a:solidFill>
                  <a:srgbClr val="CBD4E1"/>
                </a:solidFill>
                <a:latin typeface="Lucida Sans"/>
                <a:cs typeface="Lucida Sans"/>
              </a:rPr>
              <a:t> </a:t>
            </a:r>
            <a:r>
              <a:rPr sz="1350" dirty="0">
                <a:solidFill>
                  <a:srgbClr val="CBD4E1"/>
                </a:solidFill>
                <a:latin typeface="Lucida Sans"/>
                <a:cs typeface="Lucida Sans"/>
              </a:rPr>
              <a:t>query</a:t>
            </a:r>
            <a:r>
              <a:rPr sz="1350" spc="-25" dirty="0">
                <a:solidFill>
                  <a:srgbClr val="CBD4E1"/>
                </a:solidFill>
                <a:latin typeface="Lucida Sans"/>
                <a:cs typeface="Lucida Sans"/>
              </a:rPr>
              <a:t> </a:t>
            </a:r>
            <a:r>
              <a:rPr sz="1350" dirty="0">
                <a:solidFill>
                  <a:srgbClr val="CBD4E1"/>
                </a:solidFill>
                <a:latin typeface="Lucida Sans"/>
                <a:cs typeface="Lucida Sans"/>
              </a:rPr>
              <a:t>serving</a:t>
            </a:r>
            <a:r>
              <a:rPr sz="1350" spc="-30" dirty="0">
                <a:solidFill>
                  <a:srgbClr val="CBD4E1"/>
                </a:solidFill>
                <a:latin typeface="Lucida Sans"/>
                <a:cs typeface="Lucida Sans"/>
              </a:rPr>
              <a:t> </a:t>
            </a:r>
            <a:r>
              <a:rPr sz="1350" spc="-40" dirty="0">
                <a:solidFill>
                  <a:srgbClr val="CBD4E1"/>
                </a:solidFill>
                <a:latin typeface="Lucida Sans"/>
                <a:cs typeface="Lucida Sans"/>
              </a:rPr>
              <a:t>for</a:t>
            </a:r>
            <a:r>
              <a:rPr sz="1350" spc="-25" dirty="0">
                <a:solidFill>
                  <a:srgbClr val="CBD4E1"/>
                </a:solidFill>
                <a:latin typeface="Lucida Sans"/>
                <a:cs typeface="Lucida Sans"/>
              </a:rPr>
              <a:t> </a:t>
            </a:r>
            <a:r>
              <a:rPr sz="1350" spc="-140" dirty="0">
                <a:solidFill>
                  <a:srgbClr val="CBD4E1"/>
                </a:solidFill>
                <a:latin typeface="Lucida Sans"/>
                <a:cs typeface="Lucida Sans"/>
              </a:rPr>
              <a:t>1,067,371</a:t>
            </a:r>
            <a:r>
              <a:rPr sz="1350" spc="-25" dirty="0">
                <a:solidFill>
                  <a:srgbClr val="CBD4E1"/>
                </a:solidFill>
                <a:latin typeface="Lucida Sans"/>
                <a:cs typeface="Lucida Sans"/>
              </a:rPr>
              <a:t> multi-</a:t>
            </a:r>
            <a:r>
              <a:rPr sz="1350" dirty="0">
                <a:solidFill>
                  <a:srgbClr val="CBD4E1"/>
                </a:solidFill>
                <a:latin typeface="Lucida Sans"/>
                <a:cs typeface="Lucida Sans"/>
              </a:rPr>
              <a:t>year</a:t>
            </a:r>
            <a:r>
              <a:rPr sz="1350" spc="-30" dirty="0">
                <a:solidFill>
                  <a:srgbClr val="CBD4E1"/>
                </a:solidFill>
                <a:latin typeface="Lucida Sans"/>
                <a:cs typeface="Lucida Sans"/>
              </a:rPr>
              <a:t> </a:t>
            </a:r>
            <a:r>
              <a:rPr sz="1350" spc="-10" dirty="0">
                <a:solidFill>
                  <a:srgbClr val="CBD4E1"/>
                </a:solidFill>
                <a:latin typeface="Lucida Sans"/>
                <a:cs typeface="Lucida Sans"/>
              </a:rPr>
              <a:t>retail </a:t>
            </a:r>
            <a:r>
              <a:rPr sz="1350" spc="-25" dirty="0">
                <a:solidFill>
                  <a:srgbClr val="CBD4E1"/>
                </a:solidFill>
                <a:latin typeface="Lucida Sans"/>
                <a:cs typeface="Lucida Sans"/>
              </a:rPr>
              <a:t>transactions</a:t>
            </a:r>
            <a:r>
              <a:rPr sz="1350" spc="-50" dirty="0">
                <a:solidFill>
                  <a:srgbClr val="CBD4E1"/>
                </a:solidFill>
                <a:latin typeface="Lucida Sans"/>
                <a:cs typeface="Lucida Sans"/>
              </a:rPr>
              <a:t> from </a:t>
            </a:r>
            <a:r>
              <a:rPr sz="1350" spc="-10" dirty="0">
                <a:solidFill>
                  <a:srgbClr val="CBD4E1"/>
                </a:solidFill>
                <a:latin typeface="Lucida Sans"/>
                <a:cs typeface="Lucida Sans"/>
              </a:rPr>
              <a:t>the</a:t>
            </a:r>
            <a:r>
              <a:rPr sz="1350" spc="-50" dirty="0">
                <a:solidFill>
                  <a:srgbClr val="CBD4E1"/>
                </a:solidFill>
                <a:latin typeface="Lucida Sans"/>
                <a:cs typeface="Lucida Sans"/>
              </a:rPr>
              <a:t> </a:t>
            </a:r>
            <a:r>
              <a:rPr sz="1350" dirty="0">
                <a:solidFill>
                  <a:srgbClr val="CBD4E1"/>
                </a:solidFill>
                <a:latin typeface="Lucida Sans"/>
                <a:cs typeface="Lucida Sans"/>
              </a:rPr>
              <a:t>UCI</a:t>
            </a:r>
            <a:r>
              <a:rPr sz="1350" spc="-45" dirty="0">
                <a:solidFill>
                  <a:srgbClr val="CBD4E1"/>
                </a:solidFill>
                <a:latin typeface="Lucida Sans"/>
                <a:cs typeface="Lucida Sans"/>
              </a:rPr>
              <a:t> </a:t>
            </a:r>
            <a:r>
              <a:rPr sz="1350" spc="-35" dirty="0">
                <a:solidFill>
                  <a:srgbClr val="CBD4E1"/>
                </a:solidFill>
                <a:latin typeface="Lucida Sans"/>
                <a:cs typeface="Lucida Sans"/>
              </a:rPr>
              <a:t>Online</a:t>
            </a:r>
            <a:r>
              <a:rPr sz="1350" spc="-50" dirty="0">
                <a:solidFill>
                  <a:srgbClr val="CBD4E1"/>
                </a:solidFill>
                <a:latin typeface="Lucida Sans"/>
                <a:cs typeface="Lucida Sans"/>
              </a:rPr>
              <a:t> </a:t>
            </a:r>
            <a:r>
              <a:rPr sz="1350" spc="-25" dirty="0">
                <a:solidFill>
                  <a:srgbClr val="CBD4E1"/>
                </a:solidFill>
                <a:latin typeface="Lucida Sans"/>
                <a:cs typeface="Lucida Sans"/>
              </a:rPr>
              <a:t>Retail</a:t>
            </a:r>
            <a:r>
              <a:rPr sz="1350" spc="-50" dirty="0">
                <a:solidFill>
                  <a:srgbClr val="CBD4E1"/>
                </a:solidFill>
                <a:latin typeface="Lucida Sans"/>
                <a:cs typeface="Lucida Sans"/>
              </a:rPr>
              <a:t> </a:t>
            </a:r>
            <a:r>
              <a:rPr sz="1350" spc="-10" dirty="0">
                <a:solidFill>
                  <a:srgbClr val="CBD4E1"/>
                </a:solidFill>
                <a:latin typeface="Lucida Sans"/>
                <a:cs typeface="Lucida Sans"/>
              </a:rPr>
              <a:t>II</a:t>
            </a:r>
            <a:r>
              <a:rPr sz="1350" spc="-50" dirty="0">
                <a:solidFill>
                  <a:srgbClr val="CBD4E1"/>
                </a:solidFill>
                <a:latin typeface="Lucida Sans"/>
                <a:cs typeface="Lucida Sans"/>
              </a:rPr>
              <a:t> </a:t>
            </a:r>
            <a:r>
              <a:rPr sz="1350" spc="-10" dirty="0">
                <a:solidFill>
                  <a:srgbClr val="CBD4E1"/>
                </a:solidFill>
                <a:latin typeface="Lucida Sans"/>
                <a:cs typeface="Lucida Sans"/>
              </a:rPr>
              <a:t>dataset.</a:t>
            </a:r>
            <a:endParaRPr lang="en-US" sz="1350">
              <a:latin typeface="Lucida Sans"/>
              <a:cs typeface="Lucida San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8200" y="4751039"/>
            <a:ext cx="457200" cy="28575"/>
          </a:xfrm>
          <a:custGeom>
            <a:avLst/>
            <a:gdLst/>
            <a:ahLst/>
            <a:cxnLst/>
            <a:rect l="l" t="t" r="r" b="b"/>
            <a:pathLst>
              <a:path w="457200" h="28575">
                <a:moveTo>
                  <a:pt x="457199" y="28574"/>
                </a:moveTo>
                <a:lnTo>
                  <a:pt x="0" y="28574"/>
                </a:lnTo>
                <a:lnTo>
                  <a:pt x="0" y="0"/>
                </a:lnTo>
                <a:lnTo>
                  <a:pt x="457199" y="0"/>
                </a:lnTo>
                <a:lnTo>
                  <a:pt x="457199" y="28574"/>
                </a:lnTo>
                <a:close/>
              </a:path>
            </a:pathLst>
          </a:custGeom>
          <a:solidFill>
            <a:srgbClr val="37BDF7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bject 33" descr="$PPTXTitle"/>
          <p:cNvSpPr txBox="1">
            <a:spLocks noGrp="1"/>
          </p:cNvSpPr>
          <p:nvPr>
            <p:ph type="title"/>
          </p:nvPr>
        </p:nvSpPr>
        <p:spPr>
          <a:xfrm>
            <a:off x="825500" y="756158"/>
            <a:ext cx="8432725" cy="391159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pc="-65"/>
              <a:t>Problem Statement</a:t>
            </a:r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5AD80C9-E9B1-AAB4-414F-49F326283446}"/>
              </a:ext>
            </a:extLst>
          </p:cNvPr>
          <p:cNvSpPr txBox="1"/>
          <p:nvPr/>
        </p:nvSpPr>
        <p:spPr>
          <a:xfrm>
            <a:off x="828665" y="1714455"/>
            <a:ext cx="10910489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Arial"/>
              <a:buChar char="•"/>
            </a:pPr>
            <a:r>
              <a:rPr lang="en-US" b="1" dirty="0"/>
              <a:t>High Volume Data Bottlenecks:</a:t>
            </a:r>
            <a:r>
              <a:rPr lang="en-US" dirty="0"/>
              <a:t> Enterprise process </a:t>
            </a:r>
            <a:r>
              <a:rPr lang="en-US"/>
              <a:t>millions of raw transactions daily, overwhelming traditional in-memory processing and causing system crashes.</a:t>
            </a:r>
          </a:p>
          <a:p>
            <a:pPr marL="285750" indent="-285750" algn="l">
              <a:buFont typeface="Arial"/>
              <a:buChar char="•"/>
            </a:pPr>
            <a:r>
              <a:rPr lang="en-US" b="1" dirty="0">
                <a:solidFill>
                  <a:srgbClr val="000000"/>
                </a:solidFill>
              </a:rPr>
              <a:t>Severe Data Quality Issues:</a:t>
            </a:r>
            <a:r>
              <a:rPr lang="en-US" dirty="0">
                <a:solidFill>
                  <a:srgbClr val="000000"/>
                </a:solidFill>
              </a:rPr>
              <a:t> Raw streams are filled with cancellations, unpr</a:t>
            </a:r>
            <a:r>
              <a:rPr lang="en-US">
                <a:solidFill>
                  <a:srgbClr val="000000"/>
                </a:solidFill>
              </a:rPr>
              <a:t>iced line items and missing customer records that skew reporting.</a:t>
            </a:r>
          </a:p>
          <a:p>
            <a:pPr marL="285750" indent="-285750" algn="l">
              <a:buFont typeface="Arial"/>
              <a:buChar char="•"/>
            </a:pPr>
            <a:r>
              <a:rPr lang="en-US" b="1" dirty="0">
                <a:solidFill>
                  <a:srgbClr val="000000"/>
                </a:solidFill>
              </a:rPr>
              <a:t>Degraded Query Performance:</a:t>
            </a:r>
            <a:r>
              <a:rPr lang="en-US" dirty="0">
                <a:solidFill>
                  <a:srgbClr val="000000"/>
                </a:solidFill>
              </a:rPr>
              <a:t> Running Analytical aggregation directly on flat, unindexed </a:t>
            </a:r>
            <a:r>
              <a:rPr lang="en-US">
                <a:solidFill>
                  <a:srgbClr val="000000"/>
                </a:solidFill>
              </a:rPr>
              <a:t>transactional tables results in slow multi-second response times.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7" name="object 33" descr="$PPTXTitle">
            <a:extLst>
              <a:ext uri="{FF2B5EF4-FFF2-40B4-BE49-F238E27FC236}">
                <a16:creationId xmlns:a16="http://schemas.microsoft.com/office/drawing/2014/main" id="{222DDF87-14E3-1605-CB15-1AD44BD5C3A7}"/>
              </a:ext>
            </a:extLst>
          </p:cNvPr>
          <p:cNvSpPr txBox="1">
            <a:spLocks/>
          </p:cNvSpPr>
          <p:nvPr/>
        </p:nvSpPr>
        <p:spPr>
          <a:xfrm>
            <a:off x="825500" y="3696581"/>
            <a:ext cx="8432725" cy="391159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1" i="0">
                <a:solidFill>
                  <a:srgbClr val="0F172A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pc="-65"/>
              <a:t>Solution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F9BE182-8AA3-8C2B-E770-A7DFB0013EAE}"/>
              </a:ext>
            </a:extLst>
          </p:cNvPr>
          <p:cNvSpPr txBox="1"/>
          <p:nvPr/>
        </p:nvSpPr>
        <p:spPr>
          <a:xfrm>
            <a:off x="828665" y="4269396"/>
            <a:ext cx="1136768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Arial"/>
              <a:buChar char="•"/>
            </a:pPr>
            <a:r>
              <a:rPr lang="en-US" b="1"/>
              <a:t>Lightweight Data Ingestion:</a:t>
            </a:r>
            <a:r>
              <a:rPr lang="en-US"/>
              <a:t> A streamlined pipeline that processes data in controlled batches to prevent overload</a:t>
            </a:r>
            <a:endParaRPr lang="en-US">
              <a:solidFill>
                <a:srgbClr val="000000"/>
              </a:solidFill>
            </a:endParaRPr>
          </a:p>
          <a:p>
            <a:pPr marL="285750" indent="-285750" algn="l">
              <a:buFont typeface="Arial"/>
              <a:buChar char="•"/>
            </a:pPr>
            <a:r>
              <a:rPr lang="en-US" b="1" dirty="0">
                <a:solidFill>
                  <a:srgbClr val="000000"/>
                </a:solidFill>
              </a:rPr>
              <a:t>Automated Data Cleansing</a:t>
            </a:r>
            <a:r>
              <a:rPr lang="en-US" dirty="0">
                <a:solidFill>
                  <a:srgbClr val="000000"/>
                </a:solidFill>
              </a:rPr>
              <a:t>: Standardize inputs, elimin</a:t>
            </a:r>
            <a:r>
              <a:rPr lang="en-US">
                <a:solidFill>
                  <a:srgbClr val="000000"/>
                </a:solidFill>
              </a:rPr>
              <a:t>ates invalid entries and protect revenue metrics.</a:t>
            </a:r>
          </a:p>
          <a:p>
            <a:pPr marL="285750" indent="-285750" algn="l">
              <a:buFont typeface="Arial"/>
              <a:buChar char="•"/>
            </a:pPr>
            <a:r>
              <a:rPr lang="en-US" b="1">
                <a:solidFill>
                  <a:srgbClr val="000000"/>
                </a:solidFill>
              </a:rPr>
              <a:t>Dimensional Data modeling:</a:t>
            </a:r>
            <a:r>
              <a:rPr lang="en-US">
                <a:solidFill>
                  <a:srgbClr val="000000"/>
                </a:solidFill>
              </a:rPr>
              <a:t> Organizes data specifically to deliver instant dashboards and reports.</a:t>
            </a:r>
          </a:p>
          <a:p>
            <a:pPr marL="285750" indent="-285750" algn="l">
              <a:buFont typeface="Arial"/>
              <a:buChar char="•"/>
            </a:pPr>
            <a:r>
              <a:rPr lang="en-US" b="1" dirty="0">
                <a:solidFill>
                  <a:srgbClr val="000000"/>
                </a:solidFill>
              </a:rPr>
              <a:t>Role based Security &amp; Governance: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>
                <a:solidFill>
                  <a:srgbClr val="000000"/>
                </a:solidFill>
              </a:rPr>
              <a:t>Enforces secure user access levels with complete admin oversight.</a:t>
            </a:r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3532CCD-3362-18FC-8DC8-1A394E79E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bject 33" descr="$PPTXTitle">
            <a:extLst>
              <a:ext uri="{FF2B5EF4-FFF2-40B4-BE49-F238E27FC236}">
                <a16:creationId xmlns:a16="http://schemas.microsoft.com/office/drawing/2014/main" id="{0FC99472-4F50-893A-449F-CD686DBEFC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159" y="594793"/>
            <a:ext cx="2438218" cy="112082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pc="-65"/>
              <a:t>Architecture</a:t>
            </a:r>
            <a:r>
              <a:rPr spc="-140" dirty="0"/>
              <a:t> </a:t>
            </a:r>
            <a:r>
              <a:rPr lang="en-US" spc="-35" dirty="0"/>
              <a:t>Diagram</a:t>
            </a:r>
            <a:br>
              <a:rPr lang="en-US" spc="-35" dirty="0"/>
            </a:br>
            <a:endParaRPr spc="-35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0325A041-988B-2476-011A-FF098EDE0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5071" y="1"/>
            <a:ext cx="8613320" cy="6857999"/>
          </a:xfrm>
          <a:prstGeom prst="rect">
            <a:avLst/>
          </a:prstGeom>
        </p:spPr>
      </p:pic>
      <p:sp>
        <p:nvSpPr>
          <p:cNvPr id="123" name="TextBox 122">
            <a:extLst>
              <a:ext uri="{FF2B5EF4-FFF2-40B4-BE49-F238E27FC236}">
                <a16:creationId xmlns:a16="http://schemas.microsoft.com/office/drawing/2014/main" id="{1D12917E-58BD-FA27-C80A-2937209E2016}"/>
              </a:ext>
            </a:extLst>
          </p:cNvPr>
          <p:cNvSpPr txBox="1"/>
          <p:nvPr/>
        </p:nvSpPr>
        <p:spPr>
          <a:xfrm>
            <a:off x="268159" y="1699703"/>
            <a:ext cx="3286096" cy="43088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Stage 1</a:t>
            </a: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: Source: Excel archive (1.06M rows across 2 sheets).</a:t>
            </a:r>
          </a:p>
          <a:p>
            <a:pPr algn="l"/>
            <a:endParaRPr lang="en-US" sz="1600" dirty="0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  <a:p>
            <a:pPr algn="l"/>
            <a:r>
              <a:rPr lang="en-US" sz="1600" b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Stage 2:</a:t>
            </a:r>
            <a:r>
              <a:rPr lang="en-US" sz="16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ETL Pipeline: Streaming </a:t>
            </a:r>
            <a:r>
              <a:rPr lang="en-US" sz="1600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openpyxl</a:t>
            </a:r>
            <a:r>
              <a:rPr lang="en-US" sz="16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parser with validation rules.</a:t>
            </a:r>
          </a:p>
          <a:p>
            <a:pPr algn="l"/>
            <a:endParaRPr lang="en-US" sz="1600" dirty="0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  <a:p>
            <a:pPr algn="l"/>
            <a:r>
              <a:rPr lang="en-US" sz="1600" b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Stage 3:</a:t>
            </a:r>
            <a:r>
              <a:rPr lang="en-US" sz="16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Database: MySQL normalized star schema </a:t>
            </a: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with indexing</a:t>
            </a:r>
            <a:r>
              <a:rPr lang="en-US" sz="16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/>
            <a:endParaRPr lang="en-US" sz="1600" dirty="0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  <a:p>
            <a:pPr algn="l"/>
            <a:r>
              <a:rPr lang="en-US" sz="1600" b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Stage 4:</a:t>
            </a:r>
            <a:r>
              <a:rPr lang="en-US" sz="16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Backend: </a:t>
            </a:r>
            <a:r>
              <a:rPr lang="en-US" sz="1600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FastAPI</a:t>
            </a:r>
            <a:r>
              <a:rPr lang="en-US" sz="16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REST service with JWT-based authentication.</a:t>
            </a:r>
            <a:endParaRPr lang="en-US" sz="16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l"/>
            <a:endParaRPr lang="en-US" sz="1600" dirty="0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  <a:p>
            <a:pPr algn="l"/>
            <a:r>
              <a:rPr lang="en-US" sz="1600" b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Stage 5: </a:t>
            </a: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Frontend: React single-</a:t>
            </a:r>
            <a:r>
              <a:rPr lang="en-US" sz="16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page application using Recharts.</a:t>
            </a:r>
            <a:endParaRPr lang="en-US" sz="1600" dirty="0">
              <a:latin typeface="Calibri"/>
              <a:ea typeface="Calibri"/>
              <a:cs typeface="Calibri"/>
            </a:endParaRPr>
          </a:p>
          <a:p>
            <a:pPr algn="l"/>
            <a:endParaRPr lang="en-US" dirty="0">
              <a:latin typeface="Lucida Sans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81363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25500" y="515365"/>
            <a:ext cx="13055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64738B"/>
                </a:solidFill>
                <a:latin typeface="Courier New"/>
                <a:cs typeface="Courier New"/>
              </a:rPr>
              <a:t>DATA</a:t>
            </a:r>
            <a:r>
              <a:rPr sz="1050" b="1" spc="-5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1050" b="1" spc="-10" dirty="0">
                <a:solidFill>
                  <a:srgbClr val="64738B"/>
                </a:solidFill>
                <a:latin typeface="Courier New"/>
                <a:cs typeface="Courier New"/>
              </a:rPr>
              <a:t>ENGINEERING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ETL</a:t>
            </a:r>
            <a:r>
              <a:rPr spc="-185" dirty="0"/>
              <a:t> </a:t>
            </a:r>
            <a:r>
              <a:rPr spc="245" dirty="0"/>
              <a:t>s</a:t>
            </a:r>
            <a:r>
              <a:rPr spc="-185" dirty="0"/>
              <a:t> </a:t>
            </a:r>
            <a:r>
              <a:rPr spc="-40" dirty="0"/>
              <a:t>Memory</a:t>
            </a:r>
            <a:r>
              <a:rPr spc="-185" dirty="0"/>
              <a:t> </a:t>
            </a:r>
            <a:r>
              <a:rPr spc="-35" dirty="0"/>
              <a:t>Management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33437" y="3062287"/>
            <a:ext cx="4352925" cy="1695450"/>
            <a:chOff x="833437" y="3062287"/>
            <a:chExt cx="4352925" cy="1695450"/>
          </a:xfrm>
        </p:grpSpPr>
        <p:sp>
          <p:nvSpPr>
            <p:cNvPr id="4" name="object 4"/>
            <p:cNvSpPr/>
            <p:nvPr/>
          </p:nvSpPr>
          <p:spPr>
            <a:xfrm>
              <a:off x="838200" y="3067050"/>
              <a:ext cx="4343400" cy="1685925"/>
            </a:xfrm>
            <a:custGeom>
              <a:avLst/>
              <a:gdLst/>
              <a:ahLst/>
              <a:cxnLst/>
              <a:rect l="l" t="t" r="r" b="b"/>
              <a:pathLst>
                <a:path w="4343400" h="1685925">
                  <a:moveTo>
                    <a:pt x="4267212" y="1685924"/>
                  </a:moveTo>
                  <a:lnTo>
                    <a:pt x="76186" y="1685924"/>
                  </a:lnTo>
                  <a:lnTo>
                    <a:pt x="46531" y="1679937"/>
                  </a:lnTo>
                  <a:lnTo>
                    <a:pt x="22314" y="1663610"/>
                  </a:lnTo>
                  <a:lnTo>
                    <a:pt x="5987" y="1639393"/>
                  </a:lnTo>
                  <a:lnTo>
                    <a:pt x="0" y="1609737"/>
                  </a:lnTo>
                  <a:lnTo>
                    <a:pt x="0" y="76186"/>
                  </a:lnTo>
                  <a:lnTo>
                    <a:pt x="5987" y="46531"/>
                  </a:lnTo>
                  <a:lnTo>
                    <a:pt x="22314" y="22314"/>
                  </a:lnTo>
                  <a:lnTo>
                    <a:pt x="46531" y="5987"/>
                  </a:lnTo>
                  <a:lnTo>
                    <a:pt x="76186" y="0"/>
                  </a:lnTo>
                  <a:lnTo>
                    <a:pt x="4267212" y="0"/>
                  </a:lnTo>
                  <a:lnTo>
                    <a:pt x="4309481" y="12800"/>
                  </a:lnTo>
                  <a:lnTo>
                    <a:pt x="4337600" y="47031"/>
                  </a:lnTo>
                  <a:lnTo>
                    <a:pt x="4343399" y="76186"/>
                  </a:lnTo>
                  <a:lnTo>
                    <a:pt x="4343399" y="1609737"/>
                  </a:lnTo>
                  <a:lnTo>
                    <a:pt x="4337412" y="1639393"/>
                  </a:lnTo>
                  <a:lnTo>
                    <a:pt x="4321085" y="1663610"/>
                  </a:lnTo>
                  <a:lnTo>
                    <a:pt x="4296868" y="1679937"/>
                  </a:lnTo>
                  <a:lnTo>
                    <a:pt x="4267212" y="16859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38200" y="3067050"/>
              <a:ext cx="4343400" cy="1685925"/>
            </a:xfrm>
            <a:custGeom>
              <a:avLst/>
              <a:gdLst/>
              <a:ahLst/>
              <a:cxnLst/>
              <a:rect l="l" t="t" r="r" b="b"/>
              <a:pathLst>
                <a:path w="4343400" h="1685925">
                  <a:moveTo>
                    <a:pt x="0" y="76186"/>
                  </a:moveTo>
                  <a:lnTo>
                    <a:pt x="5987" y="46531"/>
                  </a:lnTo>
                  <a:lnTo>
                    <a:pt x="22314" y="22314"/>
                  </a:lnTo>
                  <a:lnTo>
                    <a:pt x="46531" y="5987"/>
                  </a:lnTo>
                  <a:lnTo>
                    <a:pt x="76186" y="0"/>
                  </a:lnTo>
                  <a:lnTo>
                    <a:pt x="4267212" y="0"/>
                  </a:lnTo>
                  <a:lnTo>
                    <a:pt x="4309481" y="12800"/>
                  </a:lnTo>
                  <a:lnTo>
                    <a:pt x="4337600" y="47031"/>
                  </a:lnTo>
                  <a:lnTo>
                    <a:pt x="4343399" y="76186"/>
                  </a:lnTo>
                  <a:lnTo>
                    <a:pt x="4343399" y="1609737"/>
                  </a:lnTo>
                  <a:lnTo>
                    <a:pt x="4337412" y="1639393"/>
                  </a:lnTo>
                  <a:lnTo>
                    <a:pt x="4321085" y="1663610"/>
                  </a:lnTo>
                  <a:lnTo>
                    <a:pt x="4296868" y="1679937"/>
                  </a:lnTo>
                  <a:lnTo>
                    <a:pt x="4267212" y="1685924"/>
                  </a:lnTo>
                  <a:lnTo>
                    <a:pt x="76186" y="1685924"/>
                  </a:lnTo>
                  <a:lnTo>
                    <a:pt x="46531" y="1679937"/>
                  </a:lnTo>
                  <a:lnTo>
                    <a:pt x="22314" y="1663610"/>
                  </a:lnTo>
                  <a:lnTo>
                    <a:pt x="5987" y="1639393"/>
                  </a:lnTo>
                  <a:lnTo>
                    <a:pt x="0" y="1609737"/>
                  </a:lnTo>
                  <a:lnTo>
                    <a:pt x="0" y="76186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139825" y="3363341"/>
            <a:ext cx="3820160" cy="1132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DC2626"/>
                </a:solidFill>
                <a:latin typeface="Courier New"/>
                <a:cs typeface="Courier New"/>
              </a:rPr>
              <a:t>THE</a:t>
            </a:r>
            <a:r>
              <a:rPr sz="1050" b="1" spc="-5" dirty="0">
                <a:solidFill>
                  <a:srgbClr val="DC2626"/>
                </a:solidFill>
                <a:latin typeface="Courier New"/>
                <a:cs typeface="Courier New"/>
              </a:rPr>
              <a:t> </a:t>
            </a:r>
            <a:r>
              <a:rPr sz="1050" b="1" spc="-10" dirty="0">
                <a:solidFill>
                  <a:srgbClr val="DC2626"/>
                </a:solidFill>
                <a:latin typeface="Courier New"/>
                <a:cs typeface="Courier New"/>
              </a:rPr>
              <a:t>PROBLEM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350" spc="-10" dirty="0">
                <a:solidFill>
                  <a:srgbClr val="334155"/>
                </a:solidFill>
                <a:latin typeface="Lucida Sans"/>
                <a:cs typeface="Lucida Sans"/>
              </a:rPr>
              <a:t>Standard</a:t>
            </a:r>
            <a:r>
              <a:rPr sz="1350" spc="-2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35" dirty="0">
                <a:solidFill>
                  <a:srgbClr val="334155"/>
                </a:solidFill>
                <a:latin typeface="Lucida Sans"/>
                <a:cs typeface="Lucida Sans"/>
              </a:rPr>
              <a:t>pandas/DataFrame</a:t>
            </a:r>
            <a:r>
              <a:rPr sz="1350" spc="-1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35" dirty="0">
                <a:solidFill>
                  <a:srgbClr val="334155"/>
                </a:solidFill>
                <a:latin typeface="Lucida Sans"/>
                <a:cs typeface="Lucida Sans"/>
              </a:rPr>
              <a:t>ingestion</a:t>
            </a:r>
            <a:r>
              <a:rPr sz="1350" spc="-1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25" dirty="0">
                <a:solidFill>
                  <a:srgbClr val="334155"/>
                </a:solidFill>
                <a:latin typeface="Lucida Sans"/>
                <a:cs typeface="Lucida Sans"/>
              </a:rPr>
              <a:t>of</a:t>
            </a:r>
            <a:endParaRPr sz="13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350" spc="-40" dirty="0">
                <a:solidFill>
                  <a:srgbClr val="334155"/>
                </a:solidFill>
                <a:latin typeface="Lucida Sans"/>
                <a:cs typeface="Lucida Sans"/>
              </a:rPr>
              <a:t>multi-</a:t>
            </a:r>
            <a:r>
              <a:rPr sz="1350" dirty="0">
                <a:solidFill>
                  <a:srgbClr val="334155"/>
                </a:solidFill>
                <a:latin typeface="Lucida Sans"/>
                <a:cs typeface="Lucida Sans"/>
              </a:rPr>
              <a:t>sheet</a:t>
            </a:r>
            <a:r>
              <a:rPr sz="1350" spc="-5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20" dirty="0">
                <a:solidFill>
                  <a:srgbClr val="334155"/>
                </a:solidFill>
                <a:latin typeface="Lucida Sans"/>
                <a:cs typeface="Lucida Sans"/>
              </a:rPr>
              <a:t>workbooks</a:t>
            </a:r>
            <a:r>
              <a:rPr sz="1350" spc="-5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Lucida Sans"/>
                <a:cs typeface="Lucida Sans"/>
              </a:rPr>
              <a:t>spikes</a:t>
            </a:r>
            <a:r>
              <a:rPr sz="1350" spc="-5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20" dirty="0">
                <a:solidFill>
                  <a:srgbClr val="334155"/>
                </a:solidFill>
                <a:latin typeface="Lucida Sans"/>
                <a:cs typeface="Lucida Sans"/>
              </a:rPr>
              <a:t>memory</a:t>
            </a:r>
            <a:r>
              <a:rPr sz="1350" spc="-5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Lucida Sans"/>
                <a:cs typeface="Lucida Sans"/>
              </a:rPr>
              <a:t>beyond</a:t>
            </a:r>
            <a:endParaRPr sz="13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350" b="1" spc="-75" dirty="0">
                <a:solidFill>
                  <a:srgbClr val="334155"/>
                </a:solidFill>
                <a:latin typeface="Lucida Sans"/>
                <a:cs typeface="Lucida Sans"/>
              </a:rPr>
              <a:t>1.5</a:t>
            </a:r>
            <a:r>
              <a:rPr sz="1350" b="1" spc="-114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b="1" dirty="0">
                <a:solidFill>
                  <a:srgbClr val="334155"/>
                </a:solidFill>
                <a:latin typeface="Lucida Sans"/>
                <a:cs typeface="Lucida Sans"/>
              </a:rPr>
              <a:t>GB</a:t>
            </a:r>
            <a:r>
              <a:rPr sz="1350" dirty="0">
                <a:solidFill>
                  <a:srgbClr val="334155"/>
                </a:solidFill>
                <a:latin typeface="Lucida Sans"/>
                <a:cs typeface="Lucida Sans"/>
              </a:rPr>
              <a:t>,</a:t>
            </a:r>
            <a:r>
              <a:rPr sz="1350" spc="-6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35" dirty="0">
                <a:solidFill>
                  <a:srgbClr val="334155"/>
                </a:solidFill>
                <a:latin typeface="Lucida Sans"/>
                <a:cs typeface="Lucida Sans"/>
              </a:rPr>
              <a:t>risking</a:t>
            </a:r>
            <a:r>
              <a:rPr sz="1350" spc="-6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25" dirty="0">
                <a:solidFill>
                  <a:srgbClr val="334155"/>
                </a:solidFill>
                <a:latin typeface="Lucida Sans"/>
                <a:cs typeface="Lucida Sans"/>
              </a:rPr>
              <a:t>host</a:t>
            </a:r>
            <a:r>
              <a:rPr sz="1350" spc="-5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Lucida Sans"/>
                <a:cs typeface="Lucida Sans"/>
              </a:rPr>
              <a:t>crashes.</a:t>
            </a:r>
            <a:endParaRPr sz="1350">
              <a:latin typeface="Lucida Sans"/>
              <a:cs typeface="Lucida San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519737" y="2480666"/>
            <a:ext cx="5838825" cy="2858770"/>
            <a:chOff x="5519737" y="2480666"/>
            <a:chExt cx="5838825" cy="2858770"/>
          </a:xfrm>
        </p:grpSpPr>
        <p:sp>
          <p:nvSpPr>
            <p:cNvPr id="7" name="object 7"/>
            <p:cNvSpPr/>
            <p:nvPr/>
          </p:nvSpPr>
          <p:spPr>
            <a:xfrm>
              <a:off x="5524500" y="2485428"/>
              <a:ext cx="5829300" cy="2849245"/>
            </a:xfrm>
            <a:custGeom>
              <a:avLst/>
              <a:gdLst/>
              <a:ahLst/>
              <a:cxnLst/>
              <a:rect l="l" t="t" r="r" b="b"/>
              <a:pathLst>
                <a:path w="5829300" h="2849245">
                  <a:moveTo>
                    <a:pt x="5753113" y="2849165"/>
                  </a:moveTo>
                  <a:lnTo>
                    <a:pt x="76186" y="2849165"/>
                  </a:lnTo>
                  <a:lnTo>
                    <a:pt x="46531" y="2843178"/>
                  </a:lnTo>
                  <a:lnTo>
                    <a:pt x="22314" y="2826850"/>
                  </a:lnTo>
                  <a:lnTo>
                    <a:pt x="5987" y="2802633"/>
                  </a:lnTo>
                  <a:lnTo>
                    <a:pt x="0" y="2772978"/>
                  </a:lnTo>
                  <a:lnTo>
                    <a:pt x="0" y="76186"/>
                  </a:lnTo>
                  <a:lnTo>
                    <a:pt x="5987" y="46531"/>
                  </a:lnTo>
                  <a:lnTo>
                    <a:pt x="22314" y="22314"/>
                  </a:lnTo>
                  <a:lnTo>
                    <a:pt x="46531" y="5987"/>
                  </a:lnTo>
                  <a:lnTo>
                    <a:pt x="76186" y="0"/>
                  </a:lnTo>
                  <a:lnTo>
                    <a:pt x="5753113" y="0"/>
                  </a:lnTo>
                  <a:lnTo>
                    <a:pt x="5795381" y="12800"/>
                  </a:lnTo>
                  <a:lnTo>
                    <a:pt x="5823500" y="47031"/>
                  </a:lnTo>
                  <a:lnTo>
                    <a:pt x="5829299" y="76186"/>
                  </a:lnTo>
                  <a:lnTo>
                    <a:pt x="5829299" y="2772978"/>
                  </a:lnTo>
                  <a:lnTo>
                    <a:pt x="5823312" y="2802633"/>
                  </a:lnTo>
                  <a:lnTo>
                    <a:pt x="5806985" y="2826850"/>
                  </a:lnTo>
                  <a:lnTo>
                    <a:pt x="5782768" y="2843178"/>
                  </a:lnTo>
                  <a:lnTo>
                    <a:pt x="5753113" y="28491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24500" y="2485428"/>
              <a:ext cx="5829300" cy="2849245"/>
            </a:xfrm>
            <a:custGeom>
              <a:avLst/>
              <a:gdLst/>
              <a:ahLst/>
              <a:cxnLst/>
              <a:rect l="l" t="t" r="r" b="b"/>
              <a:pathLst>
                <a:path w="5829300" h="2849245">
                  <a:moveTo>
                    <a:pt x="0" y="76186"/>
                  </a:moveTo>
                  <a:lnTo>
                    <a:pt x="5987" y="46531"/>
                  </a:lnTo>
                  <a:lnTo>
                    <a:pt x="22314" y="22314"/>
                  </a:lnTo>
                  <a:lnTo>
                    <a:pt x="46531" y="5987"/>
                  </a:lnTo>
                  <a:lnTo>
                    <a:pt x="76186" y="0"/>
                  </a:lnTo>
                  <a:lnTo>
                    <a:pt x="5753113" y="0"/>
                  </a:lnTo>
                  <a:lnTo>
                    <a:pt x="5795381" y="12800"/>
                  </a:lnTo>
                  <a:lnTo>
                    <a:pt x="5823500" y="47031"/>
                  </a:lnTo>
                  <a:lnTo>
                    <a:pt x="5829299" y="76186"/>
                  </a:lnTo>
                  <a:lnTo>
                    <a:pt x="5829299" y="2772978"/>
                  </a:lnTo>
                  <a:lnTo>
                    <a:pt x="5823312" y="2802633"/>
                  </a:lnTo>
                  <a:lnTo>
                    <a:pt x="5806985" y="2826850"/>
                  </a:lnTo>
                  <a:lnTo>
                    <a:pt x="5782768" y="2843178"/>
                  </a:lnTo>
                  <a:lnTo>
                    <a:pt x="5753113" y="2849165"/>
                  </a:lnTo>
                  <a:lnTo>
                    <a:pt x="76186" y="2849165"/>
                  </a:lnTo>
                  <a:lnTo>
                    <a:pt x="46531" y="2843178"/>
                  </a:lnTo>
                  <a:lnTo>
                    <a:pt x="22314" y="2826850"/>
                  </a:lnTo>
                  <a:lnTo>
                    <a:pt x="5987" y="2802633"/>
                  </a:lnTo>
                  <a:lnTo>
                    <a:pt x="0" y="2772978"/>
                  </a:lnTo>
                  <a:lnTo>
                    <a:pt x="0" y="76186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38825" y="4349947"/>
              <a:ext cx="5200650" cy="670560"/>
            </a:xfrm>
            <a:custGeom>
              <a:avLst/>
              <a:gdLst/>
              <a:ahLst/>
              <a:cxnLst/>
              <a:rect l="l" t="t" r="r" b="b"/>
              <a:pathLst>
                <a:path w="5200650" h="670560">
                  <a:moveTo>
                    <a:pt x="5143505" y="670321"/>
                  </a:moveTo>
                  <a:lnTo>
                    <a:pt x="57144" y="670321"/>
                  </a:lnTo>
                  <a:lnTo>
                    <a:pt x="34901" y="665830"/>
                  </a:lnTo>
                  <a:lnTo>
                    <a:pt x="16737" y="653583"/>
                  </a:lnTo>
                  <a:lnTo>
                    <a:pt x="4490" y="635419"/>
                  </a:lnTo>
                  <a:lnTo>
                    <a:pt x="0" y="613176"/>
                  </a:lnTo>
                  <a:lnTo>
                    <a:pt x="0" y="57144"/>
                  </a:lnTo>
                  <a:lnTo>
                    <a:pt x="4490" y="34901"/>
                  </a:lnTo>
                  <a:lnTo>
                    <a:pt x="16737" y="16737"/>
                  </a:lnTo>
                  <a:lnTo>
                    <a:pt x="34901" y="4490"/>
                  </a:lnTo>
                  <a:lnTo>
                    <a:pt x="57144" y="0"/>
                  </a:lnTo>
                  <a:lnTo>
                    <a:pt x="5143505" y="0"/>
                  </a:lnTo>
                  <a:lnTo>
                    <a:pt x="5183912" y="16736"/>
                  </a:lnTo>
                  <a:lnTo>
                    <a:pt x="5200649" y="57144"/>
                  </a:lnTo>
                  <a:lnTo>
                    <a:pt x="5200649" y="613176"/>
                  </a:lnTo>
                  <a:lnTo>
                    <a:pt x="5196159" y="635419"/>
                  </a:lnTo>
                  <a:lnTo>
                    <a:pt x="5183912" y="653583"/>
                  </a:lnTo>
                  <a:lnTo>
                    <a:pt x="5165748" y="665830"/>
                  </a:lnTo>
                  <a:lnTo>
                    <a:pt x="5143505" y="670321"/>
                  </a:lnTo>
                  <a:close/>
                </a:path>
              </a:pathLst>
            </a:custGeom>
            <a:solidFill>
              <a:srgbClr val="F1F4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826125" y="2781720"/>
            <a:ext cx="146558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0F172A"/>
                </a:solidFill>
                <a:latin typeface="Courier New"/>
                <a:cs typeface="Courier New"/>
              </a:rPr>
              <a:t>OUR</a:t>
            </a:r>
            <a:r>
              <a:rPr sz="1050" b="1" spc="-5" dirty="0">
                <a:solidFill>
                  <a:srgbClr val="0F172A"/>
                </a:solidFill>
                <a:latin typeface="Courier New"/>
                <a:cs typeface="Courier New"/>
              </a:rPr>
              <a:t> </a:t>
            </a:r>
            <a:r>
              <a:rPr sz="1050" b="1" spc="-10" dirty="0">
                <a:solidFill>
                  <a:srgbClr val="0F172A"/>
                </a:solidFill>
                <a:latin typeface="Courier New"/>
                <a:cs typeface="Courier New"/>
              </a:rPr>
              <a:t>IMPLEMENTATION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26125" y="3021902"/>
            <a:ext cx="5253990" cy="1214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43510">
              <a:lnSpc>
                <a:spcPct val="139900"/>
              </a:lnSpc>
              <a:spcBef>
                <a:spcPts val="100"/>
              </a:spcBef>
              <a:buChar char="•"/>
              <a:tabLst>
                <a:tab pos="156210" algn="l"/>
              </a:tabLst>
            </a:pPr>
            <a:r>
              <a:rPr sz="1350" dirty="0">
                <a:solidFill>
                  <a:srgbClr val="334155"/>
                </a:solidFill>
                <a:latin typeface="Lucida Sans"/>
                <a:cs typeface="Lucida Sans"/>
              </a:rPr>
              <a:t>Read-only</a:t>
            </a:r>
            <a:r>
              <a:rPr sz="1350" spc="-2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35" dirty="0">
                <a:solidFill>
                  <a:srgbClr val="334155"/>
                </a:solidFill>
                <a:latin typeface="Lucida Sans"/>
                <a:cs typeface="Lucida Sans"/>
              </a:rPr>
              <a:t>streaming</a:t>
            </a:r>
            <a:r>
              <a:rPr sz="1350" spc="-2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40" dirty="0">
                <a:solidFill>
                  <a:srgbClr val="334155"/>
                </a:solidFill>
                <a:latin typeface="Lucida Sans"/>
                <a:cs typeface="Lucida Sans"/>
              </a:rPr>
              <a:t>iterator</a:t>
            </a:r>
            <a:r>
              <a:rPr sz="1350" spc="-2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Lucida Sans"/>
                <a:cs typeface="Lucida Sans"/>
              </a:rPr>
              <a:t>processing</a:t>
            </a:r>
            <a:r>
              <a:rPr sz="1350" spc="-2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Lucida Sans"/>
                <a:cs typeface="Lucida Sans"/>
              </a:rPr>
              <a:t>records</a:t>
            </a:r>
            <a:r>
              <a:rPr sz="1350" spc="-2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60" dirty="0">
                <a:solidFill>
                  <a:srgbClr val="334155"/>
                </a:solidFill>
                <a:latin typeface="Lucida Sans"/>
                <a:cs typeface="Lucida Sans"/>
              </a:rPr>
              <a:t>in</a:t>
            </a:r>
            <a:r>
              <a:rPr sz="1350" spc="-2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55" dirty="0">
                <a:solidFill>
                  <a:srgbClr val="334155"/>
                </a:solidFill>
                <a:latin typeface="Lucida Sans"/>
                <a:cs typeface="Lucida Sans"/>
              </a:rPr>
              <a:t>10,000-</a:t>
            </a:r>
            <a:r>
              <a:rPr sz="1350" spc="-25" dirty="0">
                <a:solidFill>
                  <a:srgbClr val="334155"/>
                </a:solidFill>
                <a:latin typeface="Lucida Sans"/>
                <a:cs typeface="Lucida Sans"/>
              </a:rPr>
              <a:t>row </a:t>
            </a:r>
            <a:r>
              <a:rPr sz="1350" spc="-10" dirty="0">
                <a:solidFill>
                  <a:srgbClr val="334155"/>
                </a:solidFill>
                <a:latin typeface="Lucida Sans"/>
                <a:cs typeface="Lucida Sans"/>
              </a:rPr>
              <a:t>chunks.</a:t>
            </a:r>
            <a:endParaRPr sz="1350">
              <a:latin typeface="Lucida Sans"/>
              <a:cs typeface="Lucida Sans"/>
            </a:endParaRPr>
          </a:p>
          <a:p>
            <a:pPr marL="12700" marR="139065" indent="143510">
              <a:lnSpc>
                <a:spcPct val="139900"/>
              </a:lnSpc>
              <a:spcBef>
                <a:spcPts val="295"/>
              </a:spcBef>
              <a:buChar char="•"/>
              <a:tabLst>
                <a:tab pos="156210" algn="l"/>
              </a:tabLst>
            </a:pPr>
            <a:r>
              <a:rPr sz="1350" spc="-20" dirty="0">
                <a:solidFill>
                  <a:srgbClr val="334155"/>
                </a:solidFill>
                <a:latin typeface="Lucida Sans"/>
                <a:cs typeface="Lucida Sans"/>
              </a:rPr>
              <a:t>In-</a:t>
            </a:r>
            <a:r>
              <a:rPr sz="1350" dirty="0">
                <a:solidFill>
                  <a:srgbClr val="334155"/>
                </a:solidFill>
                <a:latin typeface="Lucida Sans"/>
                <a:cs typeface="Lucida Sans"/>
              </a:rPr>
              <a:t>memory</a:t>
            </a:r>
            <a:r>
              <a:rPr sz="1350" spc="-6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dirty="0">
                <a:solidFill>
                  <a:srgbClr val="334155"/>
                </a:solidFill>
                <a:latin typeface="Lucida Sans"/>
                <a:cs typeface="Lucida Sans"/>
              </a:rPr>
              <a:t>caching</a:t>
            </a:r>
            <a:r>
              <a:rPr sz="1350" spc="-6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40" dirty="0">
                <a:solidFill>
                  <a:srgbClr val="334155"/>
                </a:solidFill>
                <a:latin typeface="Lucida Sans"/>
                <a:cs typeface="Lucida Sans"/>
              </a:rPr>
              <a:t>for</a:t>
            </a:r>
            <a:r>
              <a:rPr sz="1350" spc="-6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Lucida Sans"/>
                <a:cs typeface="Lucida Sans"/>
              </a:rPr>
              <a:t>country</a:t>
            </a:r>
            <a:r>
              <a:rPr sz="1350" spc="-6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20" dirty="0">
                <a:solidFill>
                  <a:srgbClr val="334155"/>
                </a:solidFill>
                <a:latin typeface="Lucida Sans"/>
                <a:cs typeface="Lucida Sans"/>
              </a:rPr>
              <a:t>and</a:t>
            </a:r>
            <a:r>
              <a:rPr sz="1350" spc="-6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25" dirty="0">
                <a:solidFill>
                  <a:srgbClr val="334155"/>
                </a:solidFill>
                <a:latin typeface="Lucida Sans"/>
                <a:cs typeface="Lucida Sans"/>
              </a:rPr>
              <a:t>product</a:t>
            </a:r>
            <a:r>
              <a:rPr sz="1350" spc="-6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35" dirty="0">
                <a:solidFill>
                  <a:srgbClr val="334155"/>
                </a:solidFill>
                <a:latin typeface="Lucida Sans"/>
                <a:cs typeface="Lucida Sans"/>
              </a:rPr>
              <a:t>dimension</a:t>
            </a:r>
            <a:r>
              <a:rPr sz="1350" spc="-6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dirty="0">
                <a:solidFill>
                  <a:srgbClr val="334155"/>
                </a:solidFill>
                <a:latin typeface="Lucida Sans"/>
                <a:cs typeface="Lucida Sans"/>
              </a:rPr>
              <a:t>IDs</a:t>
            </a:r>
            <a:r>
              <a:rPr sz="1350" spc="-6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25" dirty="0">
                <a:solidFill>
                  <a:srgbClr val="334155"/>
                </a:solidFill>
                <a:latin typeface="Lucida Sans"/>
                <a:cs typeface="Lucida Sans"/>
              </a:rPr>
              <a:t>to </a:t>
            </a:r>
            <a:r>
              <a:rPr sz="1350" spc="-20" dirty="0">
                <a:solidFill>
                  <a:srgbClr val="334155"/>
                </a:solidFill>
                <a:latin typeface="Lucida Sans"/>
                <a:cs typeface="Lucida Sans"/>
              </a:rPr>
              <a:t>prevent</a:t>
            </a:r>
            <a:r>
              <a:rPr sz="1350" spc="-3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35" dirty="0">
                <a:solidFill>
                  <a:srgbClr val="334155"/>
                </a:solidFill>
                <a:latin typeface="Lucida Sans"/>
                <a:cs typeface="Lucida Sans"/>
              </a:rPr>
              <a:t>redundant</a:t>
            </a:r>
            <a:r>
              <a:rPr sz="1350" spc="-3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dirty="0">
                <a:solidFill>
                  <a:srgbClr val="334155"/>
                </a:solidFill>
                <a:latin typeface="Lucida Sans"/>
                <a:cs typeface="Lucida Sans"/>
              </a:rPr>
              <a:t>DB</a:t>
            </a:r>
            <a:r>
              <a:rPr sz="1350" spc="-2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Lucida Sans"/>
                <a:cs typeface="Lucida Sans"/>
              </a:rPr>
              <a:t>lookups.</a:t>
            </a:r>
            <a:endParaRPr sz="1350">
              <a:latin typeface="Lucida Sans"/>
              <a:cs typeface="Lucida San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59475" y="4343496"/>
            <a:ext cx="4332605" cy="601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905">
              <a:lnSpc>
                <a:spcPct val="139900"/>
              </a:lnSpc>
              <a:spcBef>
                <a:spcPts val="100"/>
              </a:spcBef>
              <a:buChar char="•"/>
              <a:tabLst>
                <a:tab pos="133350" algn="l"/>
              </a:tabLst>
            </a:pPr>
            <a:r>
              <a:rPr sz="1350" b="1" spc="-25" dirty="0">
                <a:solidFill>
                  <a:srgbClr val="0F172A"/>
                </a:solidFill>
                <a:latin typeface="Lucida Sans"/>
                <a:cs typeface="Lucida Sans"/>
              </a:rPr>
              <a:t>	Outcome:</a:t>
            </a:r>
            <a:r>
              <a:rPr sz="1350" b="1" spc="-90" dirty="0">
                <a:solidFill>
                  <a:srgbClr val="0F172A"/>
                </a:solidFill>
                <a:latin typeface="Lucida Sans"/>
                <a:cs typeface="Lucida Sans"/>
              </a:rPr>
              <a:t> </a:t>
            </a:r>
            <a:r>
              <a:rPr sz="1350" b="1" spc="-10" dirty="0">
                <a:solidFill>
                  <a:srgbClr val="0F172A"/>
                </a:solidFill>
                <a:latin typeface="Lucida Sans"/>
                <a:cs typeface="Lucida Sans"/>
              </a:rPr>
              <a:t>Processed</a:t>
            </a:r>
            <a:r>
              <a:rPr sz="1350" b="1" spc="-90" dirty="0">
                <a:solidFill>
                  <a:srgbClr val="0F172A"/>
                </a:solidFill>
                <a:latin typeface="Lucida Sans"/>
                <a:cs typeface="Lucida Sans"/>
              </a:rPr>
              <a:t> </a:t>
            </a:r>
            <a:r>
              <a:rPr sz="1350" b="1" spc="-35" dirty="0">
                <a:solidFill>
                  <a:srgbClr val="0F172A"/>
                </a:solidFill>
                <a:latin typeface="Lucida Sans"/>
                <a:cs typeface="Lucida Sans"/>
              </a:rPr>
              <a:t>1.06M</a:t>
            </a:r>
            <a:r>
              <a:rPr sz="1350" b="1" spc="-90" dirty="0">
                <a:solidFill>
                  <a:srgbClr val="0F172A"/>
                </a:solidFill>
                <a:latin typeface="Lucida Sans"/>
                <a:cs typeface="Lucida Sans"/>
              </a:rPr>
              <a:t> </a:t>
            </a:r>
            <a:r>
              <a:rPr sz="1350" b="1" spc="-60" dirty="0">
                <a:solidFill>
                  <a:srgbClr val="0F172A"/>
                </a:solidFill>
                <a:latin typeface="Lucida Sans"/>
                <a:cs typeface="Lucida Sans"/>
              </a:rPr>
              <a:t>rows</a:t>
            </a:r>
            <a:r>
              <a:rPr sz="1350" b="1" spc="-90" dirty="0">
                <a:solidFill>
                  <a:srgbClr val="0F172A"/>
                </a:solidFill>
                <a:latin typeface="Lucida Sans"/>
                <a:cs typeface="Lucida Sans"/>
              </a:rPr>
              <a:t> </a:t>
            </a:r>
            <a:r>
              <a:rPr sz="1350" b="1" spc="-60" dirty="0">
                <a:solidFill>
                  <a:srgbClr val="0F172A"/>
                </a:solidFill>
                <a:latin typeface="Lucida Sans"/>
                <a:cs typeface="Lucida Sans"/>
              </a:rPr>
              <a:t>with</a:t>
            </a:r>
            <a:r>
              <a:rPr sz="1350" b="1" spc="-90" dirty="0">
                <a:solidFill>
                  <a:srgbClr val="0F172A"/>
                </a:solidFill>
                <a:latin typeface="Lucida Sans"/>
                <a:cs typeface="Lucida Sans"/>
              </a:rPr>
              <a:t> </a:t>
            </a:r>
            <a:r>
              <a:rPr sz="1350" b="1" spc="-10" dirty="0">
                <a:solidFill>
                  <a:srgbClr val="0F172A"/>
                </a:solidFill>
                <a:latin typeface="Lucida Sans"/>
                <a:cs typeface="Lucida Sans"/>
              </a:rPr>
              <a:t>a</a:t>
            </a:r>
            <a:r>
              <a:rPr sz="1350" b="1" spc="-85" dirty="0">
                <a:solidFill>
                  <a:srgbClr val="0F172A"/>
                </a:solidFill>
                <a:latin typeface="Lucida Sans"/>
                <a:cs typeface="Lucida Sans"/>
              </a:rPr>
              <a:t> </a:t>
            </a:r>
            <a:r>
              <a:rPr sz="1350" b="1" spc="-35" dirty="0">
                <a:solidFill>
                  <a:srgbClr val="0F172A"/>
                </a:solidFill>
                <a:latin typeface="Lucida Sans"/>
                <a:cs typeface="Lucida Sans"/>
              </a:rPr>
              <a:t>peak</a:t>
            </a:r>
            <a:r>
              <a:rPr sz="1350" b="1" spc="-90" dirty="0">
                <a:solidFill>
                  <a:srgbClr val="0F172A"/>
                </a:solidFill>
                <a:latin typeface="Lucida Sans"/>
                <a:cs typeface="Lucida Sans"/>
              </a:rPr>
              <a:t> </a:t>
            </a:r>
            <a:r>
              <a:rPr sz="1350" b="1" spc="-25" dirty="0">
                <a:solidFill>
                  <a:srgbClr val="0F172A"/>
                </a:solidFill>
                <a:latin typeface="Lucida Sans"/>
                <a:cs typeface="Lucida Sans"/>
              </a:rPr>
              <a:t>RAM </a:t>
            </a:r>
            <a:r>
              <a:rPr sz="1350" b="1" spc="-65" dirty="0">
                <a:solidFill>
                  <a:srgbClr val="0F172A"/>
                </a:solidFill>
                <a:latin typeface="Lucida Sans"/>
                <a:cs typeface="Lucida Sans"/>
              </a:rPr>
              <a:t>footprint</a:t>
            </a:r>
            <a:r>
              <a:rPr sz="1350" b="1" spc="-85" dirty="0">
                <a:solidFill>
                  <a:srgbClr val="0F172A"/>
                </a:solidFill>
                <a:latin typeface="Lucida Sans"/>
                <a:cs typeface="Lucida Sans"/>
              </a:rPr>
              <a:t> </a:t>
            </a:r>
            <a:r>
              <a:rPr sz="1350" b="1" spc="-50" dirty="0">
                <a:solidFill>
                  <a:srgbClr val="0F172A"/>
                </a:solidFill>
                <a:latin typeface="Lucida Sans"/>
                <a:cs typeface="Lucida Sans"/>
              </a:rPr>
              <a:t>under</a:t>
            </a:r>
            <a:r>
              <a:rPr sz="1350" b="1" spc="-80" dirty="0">
                <a:solidFill>
                  <a:srgbClr val="0F172A"/>
                </a:solidFill>
                <a:latin typeface="Lucida Sans"/>
                <a:cs typeface="Lucida Sans"/>
              </a:rPr>
              <a:t> </a:t>
            </a:r>
            <a:r>
              <a:rPr sz="1350" b="1" spc="-90" dirty="0">
                <a:solidFill>
                  <a:srgbClr val="0F172A"/>
                </a:solidFill>
                <a:latin typeface="Lucida Sans"/>
                <a:cs typeface="Lucida Sans"/>
              </a:rPr>
              <a:t>130</a:t>
            </a:r>
            <a:r>
              <a:rPr sz="1350" b="1" spc="-80" dirty="0">
                <a:solidFill>
                  <a:srgbClr val="0F172A"/>
                </a:solidFill>
                <a:latin typeface="Lucida Sans"/>
                <a:cs typeface="Lucida Sans"/>
              </a:rPr>
              <a:t> </a:t>
            </a:r>
            <a:r>
              <a:rPr sz="1350" b="1" spc="25" dirty="0">
                <a:solidFill>
                  <a:srgbClr val="0F172A"/>
                </a:solidFill>
                <a:latin typeface="Lucida Sans"/>
                <a:cs typeface="Lucida Sans"/>
              </a:rPr>
              <a:t>MB.</a:t>
            </a:r>
            <a:endParaRPr sz="13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500" y="515365"/>
            <a:ext cx="114554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64738B"/>
                </a:solidFill>
                <a:latin typeface="Courier New"/>
                <a:cs typeface="Courier New"/>
              </a:rPr>
              <a:t>HYGIENE</a:t>
            </a:r>
            <a:r>
              <a:rPr sz="1050" b="1" spc="-5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1050" b="1" spc="-10" dirty="0">
                <a:solidFill>
                  <a:srgbClr val="64738B"/>
                </a:solidFill>
                <a:latin typeface="Courier New"/>
                <a:cs typeface="Courier New"/>
              </a:rPr>
              <a:t>ENGINE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Data</a:t>
            </a:r>
            <a:r>
              <a:rPr spc="-160" dirty="0"/>
              <a:t> </a:t>
            </a:r>
            <a:r>
              <a:rPr lang="en-US" spc="-65"/>
              <a:t>Cleansing'</a:t>
            </a:r>
            <a:r>
              <a:rPr lang="en-US" spc="245" dirty="0"/>
              <a:t>s</a:t>
            </a:r>
            <a:r>
              <a:rPr spc="-160" dirty="0"/>
              <a:t> </a:t>
            </a:r>
            <a:r>
              <a:rPr spc="-95" dirty="0"/>
              <a:t>Validation</a:t>
            </a:r>
            <a:r>
              <a:rPr spc="-160" dirty="0"/>
              <a:t> </a:t>
            </a:r>
            <a:r>
              <a:rPr spc="-10" dirty="0"/>
              <a:t>Rules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39825" y="2987020"/>
            <a:ext cx="4592320" cy="184721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dirty="0">
                <a:solidFill>
                  <a:srgbClr val="0F172A"/>
                </a:solidFill>
                <a:latin typeface="Courier New"/>
                <a:cs typeface="Courier New"/>
              </a:rPr>
              <a:t>Rejection</a:t>
            </a:r>
            <a:r>
              <a:rPr sz="1100" b="1" spc="50" dirty="0">
                <a:solidFill>
                  <a:srgbClr val="0F172A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F172A"/>
                </a:solidFill>
                <a:latin typeface="Courier New"/>
                <a:cs typeface="Courier New"/>
              </a:rPr>
              <a:t>Criteria</a:t>
            </a:r>
            <a:r>
              <a:rPr sz="1100" b="1" spc="55" dirty="0">
                <a:solidFill>
                  <a:srgbClr val="0F172A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F172A"/>
                </a:solidFill>
                <a:latin typeface="Courier New"/>
                <a:cs typeface="Courier New"/>
              </a:rPr>
              <a:t>(Filtered</a:t>
            </a:r>
            <a:r>
              <a:rPr sz="1100" b="1" spc="55" dirty="0">
                <a:solidFill>
                  <a:srgbClr val="0F172A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F172A"/>
                </a:solidFill>
                <a:latin typeface="Courier New"/>
                <a:cs typeface="Courier New"/>
              </a:rPr>
              <a:t>out</a:t>
            </a:r>
            <a:r>
              <a:rPr sz="1100" b="1" spc="50" dirty="0">
                <a:solidFill>
                  <a:srgbClr val="0F172A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F172A"/>
                </a:solidFill>
                <a:latin typeface="Courier New"/>
                <a:cs typeface="Courier New"/>
              </a:rPr>
              <a:t>~49k</a:t>
            </a:r>
            <a:r>
              <a:rPr sz="1100" b="1" spc="55" dirty="0">
                <a:solidFill>
                  <a:srgbClr val="0F172A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0F172A"/>
                </a:solidFill>
                <a:latin typeface="Courier New"/>
                <a:cs typeface="Courier New"/>
              </a:rPr>
              <a:t>rows):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100">
              <a:latin typeface="Courier New"/>
              <a:cs typeface="Courier New"/>
            </a:endParaRPr>
          </a:p>
          <a:p>
            <a:pPr marL="156210" indent="-143510">
              <a:lnSpc>
                <a:spcPct val="100000"/>
              </a:lnSpc>
              <a:spcBef>
                <a:spcPts val="5"/>
              </a:spcBef>
              <a:buFont typeface="Lucida Sans"/>
              <a:buChar char="•"/>
              <a:tabLst>
                <a:tab pos="156210" algn="l"/>
              </a:tabLst>
            </a:pPr>
            <a:r>
              <a:rPr sz="1350" b="1" spc="-40" dirty="0">
                <a:solidFill>
                  <a:srgbClr val="334155"/>
                </a:solidFill>
                <a:latin typeface="Lucida Sans"/>
                <a:cs typeface="Lucida Sans"/>
              </a:rPr>
              <a:t>Cancellation</a:t>
            </a:r>
            <a:r>
              <a:rPr sz="1350" b="1" spc="-114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b="1" spc="-20" dirty="0">
                <a:solidFill>
                  <a:srgbClr val="334155"/>
                </a:solidFill>
                <a:latin typeface="Lucida Sans"/>
                <a:cs typeface="Lucida Sans"/>
              </a:rPr>
              <a:t>orders:</a:t>
            </a:r>
            <a:r>
              <a:rPr sz="1350" b="1" spc="-4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dirty="0">
                <a:solidFill>
                  <a:srgbClr val="334155"/>
                </a:solidFill>
                <a:latin typeface="Lucida Sans"/>
                <a:cs typeface="Lucida Sans"/>
              </a:rPr>
              <a:t>Invoices</a:t>
            </a:r>
            <a:r>
              <a:rPr sz="1350" spc="-4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35" dirty="0">
                <a:solidFill>
                  <a:srgbClr val="334155"/>
                </a:solidFill>
                <a:latin typeface="Lucida Sans"/>
                <a:cs typeface="Lucida Sans"/>
              </a:rPr>
              <a:t>prefixed</a:t>
            </a:r>
            <a:r>
              <a:rPr sz="1350" spc="-5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25" dirty="0">
                <a:solidFill>
                  <a:srgbClr val="334155"/>
                </a:solidFill>
                <a:latin typeface="Lucida Sans"/>
                <a:cs typeface="Lucida Sans"/>
              </a:rPr>
              <a:t>with</a:t>
            </a:r>
            <a:r>
              <a:rPr sz="1350" spc="-4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20" dirty="0">
                <a:solidFill>
                  <a:srgbClr val="334155"/>
                </a:solidFill>
                <a:latin typeface="Lucida Sans"/>
                <a:cs typeface="Lucida Sans"/>
              </a:rPr>
              <a:t>'C'.</a:t>
            </a:r>
            <a:endParaRPr sz="1350">
              <a:latin typeface="Lucida Sans"/>
              <a:cs typeface="Lucida Sans"/>
            </a:endParaRPr>
          </a:p>
          <a:p>
            <a:pPr marL="12700" marR="5080" indent="143510">
              <a:lnSpc>
                <a:spcPct val="139900"/>
              </a:lnSpc>
              <a:spcBef>
                <a:spcPts val="670"/>
              </a:spcBef>
              <a:buFont typeface="Lucida Sans"/>
              <a:buChar char="•"/>
              <a:tabLst>
                <a:tab pos="156210" algn="l"/>
              </a:tabLst>
            </a:pPr>
            <a:r>
              <a:rPr sz="1350" b="1" spc="-60" dirty="0">
                <a:solidFill>
                  <a:srgbClr val="334155"/>
                </a:solidFill>
                <a:latin typeface="Lucida Sans"/>
                <a:cs typeface="Lucida Sans"/>
              </a:rPr>
              <a:t>Invalid</a:t>
            </a:r>
            <a:r>
              <a:rPr sz="1350" b="1" spc="-8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b="1" spc="-30" dirty="0">
                <a:solidFill>
                  <a:srgbClr val="334155"/>
                </a:solidFill>
                <a:latin typeface="Lucida Sans"/>
                <a:cs typeface="Lucida Sans"/>
              </a:rPr>
              <a:t>transactions:</a:t>
            </a:r>
            <a:r>
              <a:rPr sz="1350" b="1" spc="1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dirty="0">
                <a:solidFill>
                  <a:srgbClr val="334155"/>
                </a:solidFill>
                <a:latin typeface="Lucida Sans"/>
                <a:cs typeface="Lucida Sans"/>
              </a:rPr>
              <a:t>Non-positive</a:t>
            </a:r>
            <a:r>
              <a:rPr sz="1350" spc="-1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40" dirty="0">
                <a:solidFill>
                  <a:srgbClr val="334155"/>
                </a:solidFill>
                <a:latin typeface="Lucida Sans"/>
                <a:cs typeface="Lucida Sans"/>
              </a:rPr>
              <a:t>quantities</a:t>
            </a:r>
            <a:r>
              <a:rPr sz="1350" spc="-1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dirty="0">
                <a:solidFill>
                  <a:srgbClr val="334155"/>
                </a:solidFill>
                <a:latin typeface="Lucida Sans"/>
                <a:cs typeface="Lucida Sans"/>
              </a:rPr>
              <a:t>(≤</a:t>
            </a:r>
            <a:r>
              <a:rPr sz="1350" spc="-1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dirty="0">
                <a:solidFill>
                  <a:srgbClr val="334155"/>
                </a:solidFill>
                <a:latin typeface="Lucida Sans"/>
                <a:cs typeface="Lucida Sans"/>
              </a:rPr>
              <a:t>0)</a:t>
            </a:r>
            <a:r>
              <a:rPr sz="1350" spc="-1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25" dirty="0">
                <a:solidFill>
                  <a:srgbClr val="334155"/>
                </a:solidFill>
                <a:latin typeface="Lucida Sans"/>
                <a:cs typeface="Lucida Sans"/>
              </a:rPr>
              <a:t>and </a:t>
            </a:r>
            <a:r>
              <a:rPr sz="1350" spc="-20" dirty="0">
                <a:solidFill>
                  <a:srgbClr val="334155"/>
                </a:solidFill>
                <a:latin typeface="Lucida Sans"/>
                <a:cs typeface="Lucida Sans"/>
              </a:rPr>
              <a:t>zero</a:t>
            </a:r>
            <a:r>
              <a:rPr sz="1350" spc="-8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20" dirty="0">
                <a:solidFill>
                  <a:srgbClr val="334155"/>
                </a:solidFill>
                <a:latin typeface="Lucida Sans"/>
                <a:cs typeface="Lucida Sans"/>
              </a:rPr>
              <a:t>or</a:t>
            </a:r>
            <a:r>
              <a:rPr sz="1350" spc="-6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Lucida Sans"/>
                <a:cs typeface="Lucida Sans"/>
              </a:rPr>
              <a:t>negative</a:t>
            </a:r>
            <a:r>
              <a:rPr sz="1350" spc="-6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60" dirty="0">
                <a:solidFill>
                  <a:srgbClr val="334155"/>
                </a:solidFill>
                <a:latin typeface="Lucida Sans"/>
                <a:cs typeface="Lucida Sans"/>
              </a:rPr>
              <a:t>unit</a:t>
            </a:r>
            <a:r>
              <a:rPr sz="1350" spc="-5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Lucida Sans"/>
                <a:cs typeface="Lucida Sans"/>
              </a:rPr>
              <a:t>prices.</a:t>
            </a:r>
            <a:endParaRPr sz="1350">
              <a:latin typeface="Lucida Sans"/>
              <a:cs typeface="Lucida Sans"/>
            </a:endParaRPr>
          </a:p>
          <a:p>
            <a:pPr marL="12700" marR="462280" indent="143510">
              <a:lnSpc>
                <a:spcPct val="139900"/>
              </a:lnSpc>
              <a:spcBef>
                <a:spcPts val="295"/>
              </a:spcBef>
              <a:buFont typeface="Lucida Sans"/>
              <a:buChar char="•"/>
              <a:tabLst>
                <a:tab pos="156210" algn="l"/>
              </a:tabLst>
            </a:pPr>
            <a:r>
              <a:rPr sz="1350" b="1" spc="-50" dirty="0">
                <a:solidFill>
                  <a:srgbClr val="334155"/>
                </a:solidFill>
                <a:latin typeface="Lucida Sans"/>
                <a:cs typeface="Lucida Sans"/>
              </a:rPr>
              <a:t>Corrupted</a:t>
            </a:r>
            <a:r>
              <a:rPr sz="1350" b="1" spc="-11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b="1" spc="-10" dirty="0">
                <a:solidFill>
                  <a:srgbClr val="334155"/>
                </a:solidFill>
                <a:latin typeface="Lucida Sans"/>
                <a:cs typeface="Lucida Sans"/>
              </a:rPr>
              <a:t>records:</a:t>
            </a:r>
            <a:r>
              <a:rPr sz="1350" b="1" spc="-4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20" dirty="0">
                <a:solidFill>
                  <a:srgbClr val="334155"/>
                </a:solidFill>
                <a:latin typeface="Lucida Sans"/>
                <a:cs typeface="Lucida Sans"/>
              </a:rPr>
              <a:t>Missing</a:t>
            </a:r>
            <a:r>
              <a:rPr sz="1350" spc="-4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Lucida Sans"/>
                <a:cs typeface="Lucida Sans"/>
              </a:rPr>
              <a:t>invoice</a:t>
            </a:r>
            <a:r>
              <a:rPr sz="1350" spc="-4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30" dirty="0">
                <a:solidFill>
                  <a:srgbClr val="334155"/>
                </a:solidFill>
                <a:latin typeface="Lucida Sans"/>
                <a:cs typeface="Lucida Sans"/>
              </a:rPr>
              <a:t>identifiers</a:t>
            </a:r>
            <a:r>
              <a:rPr sz="1350" spc="-4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25" dirty="0">
                <a:solidFill>
                  <a:srgbClr val="334155"/>
                </a:solidFill>
                <a:latin typeface="Lucida Sans"/>
                <a:cs typeface="Lucida Sans"/>
              </a:rPr>
              <a:t>or </a:t>
            </a:r>
            <a:r>
              <a:rPr sz="1350" spc="-10" dirty="0">
                <a:solidFill>
                  <a:srgbClr val="334155"/>
                </a:solidFill>
                <a:latin typeface="Lucida Sans"/>
                <a:cs typeface="Lucida Sans"/>
              </a:rPr>
              <a:t>unparseable</a:t>
            </a:r>
            <a:r>
              <a:rPr sz="1350" spc="-8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Lucida Sans"/>
                <a:cs typeface="Lucida Sans"/>
              </a:rPr>
              <a:t>timestamps.</a:t>
            </a:r>
            <a:endParaRPr sz="1350">
              <a:latin typeface="Lucida Sans"/>
              <a:cs typeface="Lucida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4333" y="2929870"/>
            <a:ext cx="4148454" cy="1847214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dirty="0">
                <a:solidFill>
                  <a:srgbClr val="0F172A"/>
                </a:solidFill>
                <a:latin typeface="Courier New"/>
                <a:cs typeface="Courier New"/>
              </a:rPr>
              <a:t>Preserved</a:t>
            </a:r>
            <a:r>
              <a:rPr sz="1100" b="1" spc="65" dirty="0">
                <a:solidFill>
                  <a:srgbClr val="0F172A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0F172A"/>
                </a:solidFill>
                <a:latin typeface="Courier New"/>
                <a:cs typeface="Courier New"/>
              </a:rPr>
              <a:t>Volume: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100">
              <a:latin typeface="Courier New"/>
              <a:cs typeface="Courier New"/>
            </a:endParaRPr>
          </a:p>
          <a:p>
            <a:pPr marL="156210" indent="-143510">
              <a:lnSpc>
                <a:spcPct val="100000"/>
              </a:lnSpc>
              <a:spcBef>
                <a:spcPts val="5"/>
              </a:spcBef>
              <a:buChar char="•"/>
              <a:tabLst>
                <a:tab pos="156210" algn="l"/>
              </a:tabLst>
            </a:pPr>
            <a:r>
              <a:rPr sz="1350" spc="-20" dirty="0">
                <a:solidFill>
                  <a:srgbClr val="334155"/>
                </a:solidFill>
                <a:latin typeface="Lucida Sans"/>
                <a:cs typeface="Lucida Sans"/>
              </a:rPr>
              <a:t>Missing</a:t>
            </a:r>
            <a:r>
              <a:rPr sz="1350" spc="-5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25" dirty="0">
                <a:solidFill>
                  <a:srgbClr val="334155"/>
                </a:solidFill>
                <a:latin typeface="Lucida Sans"/>
                <a:cs typeface="Lucida Sans"/>
              </a:rPr>
              <a:t>Customer</a:t>
            </a:r>
            <a:r>
              <a:rPr sz="1350" spc="-5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dirty="0">
                <a:solidFill>
                  <a:srgbClr val="334155"/>
                </a:solidFill>
                <a:latin typeface="Lucida Sans"/>
                <a:cs typeface="Lucida Sans"/>
              </a:rPr>
              <a:t>IDs</a:t>
            </a:r>
            <a:r>
              <a:rPr sz="1350" spc="-45" dirty="0">
                <a:solidFill>
                  <a:srgbClr val="334155"/>
                </a:solidFill>
                <a:latin typeface="Lucida Sans"/>
                <a:cs typeface="Lucida Sans"/>
              </a:rPr>
              <a:t> imputed</a:t>
            </a:r>
            <a:r>
              <a:rPr sz="1350" spc="-5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dirty="0">
                <a:solidFill>
                  <a:srgbClr val="334155"/>
                </a:solidFill>
                <a:latin typeface="Lucida Sans"/>
                <a:cs typeface="Lucida Sans"/>
              </a:rPr>
              <a:t>as</a:t>
            </a:r>
            <a:r>
              <a:rPr sz="1350" spc="-3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b="1" spc="-10" dirty="0">
                <a:solidFill>
                  <a:srgbClr val="334155"/>
                </a:solidFill>
                <a:latin typeface="Lucida Sans"/>
                <a:cs typeface="Lucida Sans"/>
              </a:rPr>
              <a:t>'GUEST'</a:t>
            </a:r>
            <a:endParaRPr sz="13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350" spc="-20" dirty="0">
                <a:solidFill>
                  <a:srgbClr val="334155"/>
                </a:solidFill>
                <a:latin typeface="Lucida Sans"/>
                <a:cs typeface="Lucida Sans"/>
              </a:rPr>
              <a:t>instead</a:t>
            </a:r>
            <a:r>
              <a:rPr sz="1350" spc="-6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dirty="0">
                <a:solidFill>
                  <a:srgbClr val="334155"/>
                </a:solidFill>
                <a:latin typeface="Lucida Sans"/>
                <a:cs typeface="Lucida Sans"/>
              </a:rPr>
              <a:t>of</a:t>
            </a:r>
            <a:r>
              <a:rPr sz="1350" spc="-6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30" dirty="0">
                <a:solidFill>
                  <a:srgbClr val="334155"/>
                </a:solidFill>
                <a:latin typeface="Lucida Sans"/>
                <a:cs typeface="Lucida Sans"/>
              </a:rPr>
              <a:t>dropped,</a:t>
            </a:r>
            <a:r>
              <a:rPr sz="1350" spc="-6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Lucida Sans"/>
                <a:cs typeface="Lucida Sans"/>
              </a:rPr>
              <a:t>preserving</a:t>
            </a:r>
            <a:r>
              <a:rPr sz="1350" spc="-6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20" dirty="0">
                <a:solidFill>
                  <a:srgbClr val="334155"/>
                </a:solidFill>
                <a:latin typeface="Lucida Sans"/>
                <a:cs typeface="Lucida Sans"/>
              </a:rPr>
              <a:t>true</a:t>
            </a:r>
            <a:r>
              <a:rPr sz="1350" spc="-6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Lucida Sans"/>
                <a:cs typeface="Lucida Sans"/>
              </a:rPr>
              <a:t>gross</a:t>
            </a:r>
            <a:r>
              <a:rPr sz="1350" spc="-6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Lucida Sans"/>
                <a:cs typeface="Lucida Sans"/>
              </a:rPr>
              <a:t>revenue.</a:t>
            </a:r>
            <a:endParaRPr sz="13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13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Lucida Sans"/>
              <a:cs typeface="Lucida Sans"/>
            </a:endParaRPr>
          </a:p>
          <a:p>
            <a:pPr marL="146050" marR="415290" lvl="1" indent="-1905">
              <a:lnSpc>
                <a:spcPct val="139900"/>
              </a:lnSpc>
              <a:buChar char="•"/>
              <a:tabLst>
                <a:tab pos="266700" algn="l"/>
              </a:tabLst>
            </a:pPr>
            <a:r>
              <a:rPr sz="1350" b="1" spc="-25" dirty="0">
                <a:solidFill>
                  <a:srgbClr val="0F172A"/>
                </a:solidFill>
                <a:latin typeface="Lucida Sans"/>
                <a:cs typeface="Lucida Sans"/>
              </a:rPr>
              <a:t>	Cleaned</a:t>
            </a:r>
            <a:r>
              <a:rPr sz="1350" b="1" spc="-55" dirty="0">
                <a:solidFill>
                  <a:srgbClr val="0F172A"/>
                </a:solidFill>
                <a:latin typeface="Lucida Sans"/>
                <a:cs typeface="Lucida Sans"/>
              </a:rPr>
              <a:t> </a:t>
            </a:r>
            <a:r>
              <a:rPr sz="1350" b="1" spc="-20" dirty="0">
                <a:solidFill>
                  <a:srgbClr val="0F172A"/>
                </a:solidFill>
                <a:latin typeface="Lucida Sans"/>
                <a:cs typeface="Lucida Sans"/>
              </a:rPr>
              <a:t>Baseline:</a:t>
            </a:r>
            <a:r>
              <a:rPr sz="1350" b="1" spc="-55" dirty="0">
                <a:solidFill>
                  <a:srgbClr val="0F172A"/>
                </a:solidFill>
                <a:latin typeface="Lucida Sans"/>
                <a:cs typeface="Lucida Sans"/>
              </a:rPr>
              <a:t> </a:t>
            </a:r>
            <a:r>
              <a:rPr sz="1350" b="1" spc="-80" dirty="0">
                <a:solidFill>
                  <a:srgbClr val="0F172A"/>
                </a:solidFill>
                <a:latin typeface="Lucida Sans"/>
                <a:cs typeface="Lucida Sans"/>
              </a:rPr>
              <a:t>1,017,985</a:t>
            </a:r>
            <a:r>
              <a:rPr sz="1350" b="1" spc="-55" dirty="0">
                <a:solidFill>
                  <a:srgbClr val="0F172A"/>
                </a:solidFill>
                <a:latin typeface="Lucida Sans"/>
                <a:cs typeface="Lucida Sans"/>
              </a:rPr>
              <a:t> </a:t>
            </a:r>
            <a:r>
              <a:rPr sz="1350" b="1" spc="-35" dirty="0">
                <a:solidFill>
                  <a:srgbClr val="0F172A"/>
                </a:solidFill>
                <a:latin typeface="Lucida Sans"/>
                <a:cs typeface="Lucida Sans"/>
              </a:rPr>
              <a:t>curated</a:t>
            </a:r>
            <a:r>
              <a:rPr sz="1350" b="1" spc="-50" dirty="0">
                <a:solidFill>
                  <a:srgbClr val="0F172A"/>
                </a:solidFill>
                <a:latin typeface="Lucida Sans"/>
                <a:cs typeface="Lucida Sans"/>
              </a:rPr>
              <a:t> </a:t>
            </a:r>
            <a:r>
              <a:rPr sz="1350" b="1" spc="-20" dirty="0">
                <a:solidFill>
                  <a:srgbClr val="0F172A"/>
                </a:solidFill>
                <a:latin typeface="Lucida Sans"/>
                <a:cs typeface="Lucida Sans"/>
              </a:rPr>
              <a:t>rows </a:t>
            </a:r>
            <a:r>
              <a:rPr sz="1350" b="1" spc="-10" dirty="0">
                <a:solidFill>
                  <a:srgbClr val="0F172A"/>
                </a:solidFill>
                <a:latin typeface="Lucida Sans"/>
                <a:cs typeface="Lucida Sans"/>
              </a:rPr>
              <a:t>($20,814,242.47</a:t>
            </a:r>
            <a:r>
              <a:rPr sz="1350" b="1" spc="-50" dirty="0">
                <a:solidFill>
                  <a:srgbClr val="0F172A"/>
                </a:solidFill>
                <a:latin typeface="Lucida Sans"/>
                <a:cs typeface="Lucida Sans"/>
              </a:rPr>
              <a:t> </a:t>
            </a:r>
            <a:r>
              <a:rPr sz="1350" b="1" spc="-60" dirty="0">
                <a:solidFill>
                  <a:srgbClr val="0F172A"/>
                </a:solidFill>
                <a:latin typeface="Lucida Sans"/>
                <a:cs typeface="Lucida Sans"/>
              </a:rPr>
              <a:t>total</a:t>
            </a:r>
            <a:r>
              <a:rPr sz="1350" b="1" spc="-50" dirty="0">
                <a:solidFill>
                  <a:srgbClr val="0F172A"/>
                </a:solidFill>
                <a:latin typeface="Lucida Sans"/>
                <a:cs typeface="Lucida Sans"/>
              </a:rPr>
              <a:t> </a:t>
            </a:r>
            <a:r>
              <a:rPr sz="1350" b="1" spc="-10" dirty="0">
                <a:solidFill>
                  <a:srgbClr val="0F172A"/>
                </a:solidFill>
                <a:latin typeface="Lucida Sans"/>
                <a:cs typeface="Lucida Sans"/>
              </a:rPr>
              <a:t>revenue).</a:t>
            </a:r>
            <a:endParaRPr sz="13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25500" y="515365"/>
            <a:ext cx="15455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64738B"/>
                </a:solidFill>
                <a:latin typeface="Courier New"/>
                <a:cs typeface="Courier New"/>
              </a:rPr>
              <a:t>RELATIONAL</a:t>
            </a:r>
            <a:r>
              <a:rPr sz="1050" b="1" spc="-15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1050" b="1" spc="-10" dirty="0">
                <a:solidFill>
                  <a:srgbClr val="64738B"/>
                </a:solidFill>
                <a:latin typeface="Courier New"/>
                <a:cs typeface="Courier New"/>
              </a:rPr>
              <a:t>MODELING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Database</a:t>
            </a:r>
            <a:r>
              <a:rPr spc="-155" dirty="0"/>
              <a:t> </a:t>
            </a:r>
            <a:r>
              <a:rPr dirty="0"/>
              <a:t>Schema</a:t>
            </a:r>
            <a:r>
              <a:rPr spc="-155" dirty="0"/>
              <a:t> </a:t>
            </a:r>
            <a:r>
              <a:rPr spc="-100" dirty="0"/>
              <a:t>Design</a:t>
            </a:r>
            <a:r>
              <a:rPr spc="-155" dirty="0"/>
              <a:t> </a:t>
            </a:r>
            <a:r>
              <a:rPr spc="-10" dirty="0"/>
              <a:t>(Star</a:t>
            </a:r>
            <a:r>
              <a:rPr spc="-155" dirty="0"/>
              <a:t> </a:t>
            </a:r>
            <a:r>
              <a:rPr spc="-10" dirty="0"/>
              <a:t>Schema)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33437" y="2776537"/>
            <a:ext cx="4735830" cy="2228850"/>
            <a:chOff x="833437" y="2776537"/>
            <a:chExt cx="4735830" cy="2228850"/>
          </a:xfrm>
        </p:grpSpPr>
        <p:sp>
          <p:nvSpPr>
            <p:cNvPr id="4" name="object 4"/>
            <p:cNvSpPr/>
            <p:nvPr/>
          </p:nvSpPr>
          <p:spPr>
            <a:xfrm>
              <a:off x="838200" y="2781300"/>
              <a:ext cx="4726305" cy="2219325"/>
            </a:xfrm>
            <a:custGeom>
              <a:avLst/>
              <a:gdLst/>
              <a:ahLst/>
              <a:cxnLst/>
              <a:rect l="l" t="t" r="r" b="b"/>
              <a:pathLst>
                <a:path w="4726305" h="2219325">
                  <a:moveTo>
                    <a:pt x="4649847" y="2219324"/>
                  </a:moveTo>
                  <a:lnTo>
                    <a:pt x="76189" y="2219324"/>
                  </a:lnTo>
                  <a:lnTo>
                    <a:pt x="46533" y="2213337"/>
                  </a:lnTo>
                  <a:lnTo>
                    <a:pt x="22315" y="2197009"/>
                  </a:lnTo>
                  <a:lnTo>
                    <a:pt x="5987" y="2172791"/>
                  </a:lnTo>
                  <a:lnTo>
                    <a:pt x="0" y="2143135"/>
                  </a:lnTo>
                  <a:lnTo>
                    <a:pt x="0" y="76189"/>
                  </a:lnTo>
                  <a:lnTo>
                    <a:pt x="5987" y="46533"/>
                  </a:lnTo>
                  <a:lnTo>
                    <a:pt x="22315" y="22315"/>
                  </a:lnTo>
                  <a:lnTo>
                    <a:pt x="46533" y="5987"/>
                  </a:lnTo>
                  <a:lnTo>
                    <a:pt x="76189" y="0"/>
                  </a:lnTo>
                  <a:lnTo>
                    <a:pt x="4649847" y="0"/>
                  </a:lnTo>
                  <a:lnTo>
                    <a:pt x="4692117" y="12800"/>
                  </a:lnTo>
                  <a:lnTo>
                    <a:pt x="4720237" y="47033"/>
                  </a:lnTo>
                  <a:lnTo>
                    <a:pt x="4726036" y="76189"/>
                  </a:lnTo>
                  <a:lnTo>
                    <a:pt x="4726036" y="2143135"/>
                  </a:lnTo>
                  <a:lnTo>
                    <a:pt x="4720049" y="2172791"/>
                  </a:lnTo>
                  <a:lnTo>
                    <a:pt x="4703721" y="2197009"/>
                  </a:lnTo>
                  <a:lnTo>
                    <a:pt x="4679503" y="2213337"/>
                  </a:lnTo>
                  <a:lnTo>
                    <a:pt x="4649847" y="22193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38200" y="2781300"/>
              <a:ext cx="4726305" cy="2219325"/>
            </a:xfrm>
            <a:custGeom>
              <a:avLst/>
              <a:gdLst/>
              <a:ahLst/>
              <a:cxnLst/>
              <a:rect l="l" t="t" r="r" b="b"/>
              <a:pathLst>
                <a:path w="4726305" h="2219325">
                  <a:moveTo>
                    <a:pt x="0" y="76189"/>
                  </a:moveTo>
                  <a:lnTo>
                    <a:pt x="5987" y="46533"/>
                  </a:lnTo>
                  <a:lnTo>
                    <a:pt x="22315" y="22315"/>
                  </a:lnTo>
                  <a:lnTo>
                    <a:pt x="46533" y="5987"/>
                  </a:lnTo>
                  <a:lnTo>
                    <a:pt x="76189" y="0"/>
                  </a:lnTo>
                  <a:lnTo>
                    <a:pt x="4649847" y="0"/>
                  </a:lnTo>
                  <a:lnTo>
                    <a:pt x="4692117" y="12800"/>
                  </a:lnTo>
                  <a:lnTo>
                    <a:pt x="4720237" y="47033"/>
                  </a:lnTo>
                  <a:lnTo>
                    <a:pt x="4726036" y="76189"/>
                  </a:lnTo>
                  <a:lnTo>
                    <a:pt x="4726036" y="2143135"/>
                  </a:lnTo>
                  <a:lnTo>
                    <a:pt x="4720049" y="2172791"/>
                  </a:lnTo>
                  <a:lnTo>
                    <a:pt x="4703721" y="2197009"/>
                  </a:lnTo>
                  <a:lnTo>
                    <a:pt x="4679503" y="2213337"/>
                  </a:lnTo>
                  <a:lnTo>
                    <a:pt x="4649847" y="2219324"/>
                  </a:lnTo>
                  <a:lnTo>
                    <a:pt x="76189" y="2219324"/>
                  </a:lnTo>
                  <a:lnTo>
                    <a:pt x="46533" y="2213337"/>
                  </a:lnTo>
                  <a:lnTo>
                    <a:pt x="22315" y="2197009"/>
                  </a:lnTo>
                  <a:lnTo>
                    <a:pt x="5987" y="2172791"/>
                  </a:lnTo>
                  <a:lnTo>
                    <a:pt x="0" y="2143135"/>
                  </a:lnTo>
                  <a:lnTo>
                    <a:pt x="0" y="76189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01725" y="3038729"/>
            <a:ext cx="3408679" cy="1657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F172A"/>
                </a:solidFill>
                <a:latin typeface="Courier New"/>
                <a:cs typeface="Courier New"/>
              </a:rPr>
              <a:t>Central</a:t>
            </a:r>
            <a:r>
              <a:rPr sz="1200" b="1" spc="-50" dirty="0">
                <a:solidFill>
                  <a:srgbClr val="0F172A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F172A"/>
                </a:solidFill>
                <a:latin typeface="Courier New"/>
                <a:cs typeface="Courier New"/>
              </a:rPr>
              <a:t>Fact</a:t>
            </a:r>
            <a:r>
              <a:rPr sz="1200" b="1" spc="-45" dirty="0">
                <a:solidFill>
                  <a:srgbClr val="0F172A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F172A"/>
                </a:solidFill>
                <a:latin typeface="Courier New"/>
                <a:cs typeface="Courier New"/>
              </a:rPr>
              <a:t>Table:</a:t>
            </a:r>
            <a:r>
              <a:rPr sz="1200" b="1" spc="-45" dirty="0">
                <a:solidFill>
                  <a:srgbClr val="0F172A"/>
                </a:solidFill>
                <a:latin typeface="Courier New"/>
                <a:cs typeface="Courier New"/>
              </a:rPr>
              <a:t> </a:t>
            </a:r>
            <a:r>
              <a:rPr sz="1200" b="1" spc="-10" dirty="0">
                <a:solidFill>
                  <a:srgbClr val="0F172A"/>
                </a:solidFill>
                <a:latin typeface="Courier New"/>
                <a:cs typeface="Courier New"/>
              </a:rPr>
              <a:t>fact_sales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100" b="1" spc="-10" dirty="0">
                <a:solidFill>
                  <a:srgbClr val="475568"/>
                </a:solidFill>
                <a:latin typeface="Lucida Sans"/>
                <a:cs typeface="Lucida Sans"/>
              </a:rPr>
              <a:t>Keys:</a:t>
            </a:r>
            <a:endParaRPr sz="1100">
              <a:latin typeface="Lucida Sans"/>
              <a:cs typeface="Lucida Sans"/>
            </a:endParaRPr>
          </a:p>
          <a:p>
            <a:pPr marL="12700" marR="5080">
              <a:lnSpc>
                <a:spcPct val="100000"/>
              </a:lnSpc>
              <a:spcBef>
                <a:spcPts val="380"/>
              </a:spcBef>
            </a:pPr>
            <a:r>
              <a:rPr sz="1200" dirty="0">
                <a:solidFill>
                  <a:srgbClr val="1E293B"/>
                </a:solidFill>
                <a:latin typeface="Courier New"/>
                <a:cs typeface="Courier New"/>
              </a:rPr>
              <a:t>transaction_id</a:t>
            </a:r>
            <a:r>
              <a:rPr sz="1200" spc="-80" dirty="0">
                <a:solidFill>
                  <a:srgbClr val="1E293B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E293B"/>
                </a:solidFill>
                <a:latin typeface="Courier New"/>
                <a:cs typeface="Courier New"/>
              </a:rPr>
              <a:t>(PK),</a:t>
            </a:r>
            <a:r>
              <a:rPr sz="1200" spc="-75" dirty="0">
                <a:solidFill>
                  <a:srgbClr val="1E293B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E293B"/>
                </a:solidFill>
                <a:latin typeface="Courier New"/>
                <a:cs typeface="Courier New"/>
              </a:rPr>
              <a:t>stock_code</a:t>
            </a:r>
            <a:r>
              <a:rPr sz="1200" spc="-75" dirty="0">
                <a:solidFill>
                  <a:srgbClr val="1E293B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1E293B"/>
                </a:solidFill>
                <a:latin typeface="Courier New"/>
                <a:cs typeface="Courier New"/>
              </a:rPr>
              <a:t>(FK), </a:t>
            </a:r>
            <a:r>
              <a:rPr sz="1200" dirty="0">
                <a:solidFill>
                  <a:srgbClr val="1E293B"/>
                </a:solidFill>
                <a:latin typeface="Courier New"/>
                <a:cs typeface="Courier New"/>
              </a:rPr>
              <a:t>customer_id</a:t>
            </a:r>
            <a:r>
              <a:rPr sz="1200" spc="-70" dirty="0">
                <a:solidFill>
                  <a:srgbClr val="1E293B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E293B"/>
                </a:solidFill>
                <a:latin typeface="Courier New"/>
                <a:cs typeface="Courier New"/>
              </a:rPr>
              <a:t>(FK),</a:t>
            </a:r>
            <a:r>
              <a:rPr sz="1200" spc="-70" dirty="0">
                <a:solidFill>
                  <a:srgbClr val="1E293B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E293B"/>
                </a:solidFill>
                <a:latin typeface="Courier New"/>
                <a:cs typeface="Courier New"/>
              </a:rPr>
              <a:t>country_id</a:t>
            </a:r>
            <a:r>
              <a:rPr sz="1200" spc="-65" dirty="0">
                <a:solidFill>
                  <a:srgbClr val="1E293B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1E293B"/>
                </a:solidFill>
                <a:latin typeface="Courier New"/>
                <a:cs typeface="Courier New"/>
              </a:rPr>
              <a:t>(FK).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1100" b="1" spc="-10" dirty="0">
                <a:solidFill>
                  <a:srgbClr val="475568"/>
                </a:solidFill>
                <a:latin typeface="Lucida Sans"/>
                <a:cs typeface="Lucida Sans"/>
              </a:rPr>
              <a:t>Metrics:</a:t>
            </a:r>
            <a:endParaRPr sz="1100">
              <a:latin typeface="Lucida Sans"/>
              <a:cs typeface="Lucida Sans"/>
            </a:endParaRPr>
          </a:p>
          <a:p>
            <a:pPr marL="12700" marR="187960">
              <a:lnSpc>
                <a:spcPct val="100000"/>
              </a:lnSpc>
              <a:spcBef>
                <a:spcPts val="380"/>
              </a:spcBef>
            </a:pPr>
            <a:r>
              <a:rPr sz="1200" dirty="0">
                <a:solidFill>
                  <a:srgbClr val="1E293B"/>
                </a:solidFill>
                <a:latin typeface="Courier New"/>
                <a:cs typeface="Courier New"/>
              </a:rPr>
              <a:t>quantity,</a:t>
            </a:r>
            <a:r>
              <a:rPr sz="1200" spc="-80" dirty="0">
                <a:solidFill>
                  <a:srgbClr val="1E293B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E293B"/>
                </a:solidFill>
                <a:latin typeface="Courier New"/>
                <a:cs typeface="Courier New"/>
              </a:rPr>
              <a:t>unit_price,</a:t>
            </a:r>
            <a:r>
              <a:rPr sz="1200" spc="-75" dirty="0">
                <a:solidFill>
                  <a:srgbClr val="1E293B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1E293B"/>
                </a:solidFill>
                <a:latin typeface="Courier New"/>
                <a:cs typeface="Courier New"/>
              </a:rPr>
              <a:t>total_amount, invoice_date.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864274" y="2516534"/>
            <a:ext cx="5494655" cy="2748915"/>
            <a:chOff x="5864274" y="2516534"/>
            <a:chExt cx="5494655" cy="2748915"/>
          </a:xfrm>
        </p:grpSpPr>
        <p:sp>
          <p:nvSpPr>
            <p:cNvPr id="7" name="object 7"/>
            <p:cNvSpPr/>
            <p:nvPr/>
          </p:nvSpPr>
          <p:spPr>
            <a:xfrm>
              <a:off x="5869037" y="2521297"/>
              <a:ext cx="5485130" cy="2739390"/>
            </a:xfrm>
            <a:custGeom>
              <a:avLst/>
              <a:gdLst/>
              <a:ahLst/>
              <a:cxnLst/>
              <a:rect l="l" t="t" r="r" b="b"/>
              <a:pathLst>
                <a:path w="5485130" h="2739390">
                  <a:moveTo>
                    <a:pt x="5408585" y="2739180"/>
                  </a:moveTo>
                  <a:lnTo>
                    <a:pt x="76176" y="2739180"/>
                  </a:lnTo>
                  <a:lnTo>
                    <a:pt x="46525" y="2733194"/>
                  </a:lnTo>
                  <a:lnTo>
                    <a:pt x="22311" y="2716869"/>
                  </a:lnTo>
                  <a:lnTo>
                    <a:pt x="5986" y="2692655"/>
                  </a:lnTo>
                  <a:lnTo>
                    <a:pt x="0" y="2663004"/>
                  </a:lnTo>
                  <a:lnTo>
                    <a:pt x="0" y="76176"/>
                  </a:lnTo>
                  <a:lnTo>
                    <a:pt x="5986" y="46525"/>
                  </a:lnTo>
                  <a:lnTo>
                    <a:pt x="22311" y="22311"/>
                  </a:lnTo>
                  <a:lnTo>
                    <a:pt x="46525" y="5986"/>
                  </a:lnTo>
                  <a:lnTo>
                    <a:pt x="76176" y="0"/>
                  </a:lnTo>
                  <a:lnTo>
                    <a:pt x="5408585" y="0"/>
                  </a:lnTo>
                  <a:lnTo>
                    <a:pt x="5450848" y="12798"/>
                  </a:lnTo>
                  <a:lnTo>
                    <a:pt x="5478963" y="47025"/>
                  </a:lnTo>
                  <a:lnTo>
                    <a:pt x="5484762" y="76176"/>
                  </a:lnTo>
                  <a:lnTo>
                    <a:pt x="5484762" y="2663004"/>
                  </a:lnTo>
                  <a:lnTo>
                    <a:pt x="5478775" y="2692655"/>
                  </a:lnTo>
                  <a:lnTo>
                    <a:pt x="5462450" y="2716869"/>
                  </a:lnTo>
                  <a:lnTo>
                    <a:pt x="5438236" y="2733194"/>
                  </a:lnTo>
                  <a:lnTo>
                    <a:pt x="5408585" y="27391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869037" y="2521297"/>
              <a:ext cx="5485130" cy="2739390"/>
            </a:xfrm>
            <a:custGeom>
              <a:avLst/>
              <a:gdLst/>
              <a:ahLst/>
              <a:cxnLst/>
              <a:rect l="l" t="t" r="r" b="b"/>
              <a:pathLst>
                <a:path w="5485130" h="2739390">
                  <a:moveTo>
                    <a:pt x="0" y="76176"/>
                  </a:moveTo>
                  <a:lnTo>
                    <a:pt x="5986" y="46525"/>
                  </a:lnTo>
                  <a:lnTo>
                    <a:pt x="22311" y="22311"/>
                  </a:lnTo>
                  <a:lnTo>
                    <a:pt x="46525" y="5986"/>
                  </a:lnTo>
                  <a:lnTo>
                    <a:pt x="76176" y="0"/>
                  </a:lnTo>
                  <a:lnTo>
                    <a:pt x="5408585" y="0"/>
                  </a:lnTo>
                  <a:lnTo>
                    <a:pt x="5450848" y="12798"/>
                  </a:lnTo>
                  <a:lnTo>
                    <a:pt x="5478963" y="47025"/>
                  </a:lnTo>
                  <a:lnTo>
                    <a:pt x="5484762" y="76176"/>
                  </a:lnTo>
                  <a:lnTo>
                    <a:pt x="5484762" y="2663004"/>
                  </a:lnTo>
                  <a:lnTo>
                    <a:pt x="5478775" y="2692655"/>
                  </a:lnTo>
                  <a:lnTo>
                    <a:pt x="5462450" y="2716869"/>
                  </a:lnTo>
                  <a:lnTo>
                    <a:pt x="5438236" y="2733194"/>
                  </a:lnTo>
                  <a:lnTo>
                    <a:pt x="5408585" y="2739180"/>
                  </a:lnTo>
                  <a:lnTo>
                    <a:pt x="76176" y="2739180"/>
                  </a:lnTo>
                  <a:lnTo>
                    <a:pt x="46525" y="2733194"/>
                  </a:lnTo>
                  <a:lnTo>
                    <a:pt x="22311" y="2716869"/>
                  </a:lnTo>
                  <a:lnTo>
                    <a:pt x="5986" y="2692655"/>
                  </a:lnTo>
                  <a:lnTo>
                    <a:pt x="0" y="2663004"/>
                  </a:lnTo>
                  <a:lnTo>
                    <a:pt x="0" y="76176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132562" y="2778726"/>
            <a:ext cx="4465955" cy="2225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F172A"/>
                </a:solidFill>
                <a:latin typeface="Courier New"/>
                <a:cs typeface="Courier New"/>
              </a:rPr>
              <a:t>Dimension</a:t>
            </a:r>
            <a:r>
              <a:rPr sz="1200" b="1" spc="-60" dirty="0">
                <a:solidFill>
                  <a:srgbClr val="0F172A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F172A"/>
                </a:solidFill>
                <a:latin typeface="Courier New"/>
                <a:cs typeface="Courier New"/>
              </a:rPr>
              <a:t>&amp;</a:t>
            </a:r>
            <a:r>
              <a:rPr sz="1200" b="1" spc="-55" dirty="0">
                <a:solidFill>
                  <a:srgbClr val="0F172A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F172A"/>
                </a:solidFill>
                <a:latin typeface="Courier New"/>
                <a:cs typeface="Courier New"/>
              </a:rPr>
              <a:t>Operational</a:t>
            </a:r>
            <a:r>
              <a:rPr sz="1200" b="1" spc="-55" dirty="0">
                <a:solidFill>
                  <a:srgbClr val="0F172A"/>
                </a:solidFill>
                <a:latin typeface="Courier New"/>
                <a:cs typeface="Courier New"/>
              </a:rPr>
              <a:t> </a:t>
            </a:r>
            <a:r>
              <a:rPr sz="1200" b="1" spc="-10" dirty="0">
                <a:solidFill>
                  <a:srgbClr val="0F172A"/>
                </a:solidFill>
                <a:latin typeface="Courier New"/>
                <a:cs typeface="Courier New"/>
              </a:rPr>
              <a:t>Tables:</a:t>
            </a:r>
            <a:endParaRPr sz="1200">
              <a:latin typeface="Courier New"/>
              <a:cs typeface="Courier New"/>
            </a:endParaRPr>
          </a:p>
          <a:p>
            <a:pPr marL="12700" marR="125730" indent="136525">
              <a:lnSpc>
                <a:spcPct val="142800"/>
              </a:lnSpc>
              <a:spcBef>
                <a:spcPts val="415"/>
              </a:spcBef>
              <a:buFont typeface="Lucida Sans"/>
              <a:buChar char="•"/>
              <a:tabLst>
                <a:tab pos="149225" algn="l"/>
              </a:tabLst>
            </a:pPr>
            <a:r>
              <a:rPr sz="1250" b="1" spc="-20" dirty="0">
                <a:solidFill>
                  <a:srgbClr val="334155"/>
                </a:solidFill>
                <a:latin typeface="Lucida Sans"/>
                <a:cs typeface="Lucida Sans"/>
              </a:rPr>
              <a:t>dim_product:</a:t>
            </a:r>
            <a:r>
              <a:rPr sz="1250" b="1" spc="5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250" dirty="0">
                <a:solidFill>
                  <a:srgbClr val="334155"/>
                </a:solidFill>
                <a:latin typeface="Lucida Sans"/>
                <a:cs typeface="Lucida Sans"/>
              </a:rPr>
              <a:t>stock_code</a:t>
            </a:r>
            <a:r>
              <a:rPr sz="1250" spc="5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250" dirty="0">
                <a:solidFill>
                  <a:srgbClr val="334155"/>
                </a:solidFill>
                <a:latin typeface="Lucida Sans"/>
                <a:cs typeface="Lucida Sans"/>
              </a:rPr>
              <a:t>(PK),</a:t>
            </a:r>
            <a:r>
              <a:rPr sz="1250" spc="5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250" spc="-20" dirty="0">
                <a:solidFill>
                  <a:srgbClr val="334155"/>
                </a:solidFill>
                <a:latin typeface="Lucida Sans"/>
                <a:cs typeface="Lucida Sans"/>
              </a:rPr>
              <a:t>description,</a:t>
            </a:r>
            <a:r>
              <a:rPr sz="1250" spc="5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250" spc="-10" dirty="0">
                <a:solidFill>
                  <a:srgbClr val="334155"/>
                </a:solidFill>
                <a:latin typeface="Lucida Sans"/>
                <a:cs typeface="Lucida Sans"/>
              </a:rPr>
              <a:t>unit_price, category.</a:t>
            </a:r>
            <a:endParaRPr sz="1250">
              <a:latin typeface="Lucida Sans"/>
              <a:cs typeface="Lucida Sans"/>
            </a:endParaRPr>
          </a:p>
          <a:p>
            <a:pPr marL="149225" indent="-136525">
              <a:lnSpc>
                <a:spcPct val="100000"/>
              </a:lnSpc>
              <a:spcBef>
                <a:spcPts val="675"/>
              </a:spcBef>
              <a:buFont typeface="Lucida Sans"/>
              <a:buChar char="•"/>
              <a:tabLst>
                <a:tab pos="149225" algn="l"/>
              </a:tabLst>
            </a:pPr>
            <a:r>
              <a:rPr sz="1250" b="1" spc="-20" dirty="0">
                <a:solidFill>
                  <a:srgbClr val="334155"/>
                </a:solidFill>
                <a:latin typeface="Lucida Sans"/>
                <a:cs typeface="Lucida Sans"/>
              </a:rPr>
              <a:t>dim_customer:</a:t>
            </a:r>
            <a:r>
              <a:rPr sz="1250" b="1" spc="2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250" spc="-10" dirty="0">
                <a:solidFill>
                  <a:srgbClr val="334155"/>
                </a:solidFill>
                <a:latin typeface="Lucida Sans"/>
                <a:cs typeface="Lucida Sans"/>
              </a:rPr>
              <a:t>customer_id</a:t>
            </a:r>
            <a:r>
              <a:rPr sz="1250" spc="2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250" dirty="0">
                <a:solidFill>
                  <a:srgbClr val="334155"/>
                </a:solidFill>
                <a:latin typeface="Lucida Sans"/>
                <a:cs typeface="Lucida Sans"/>
              </a:rPr>
              <a:t>(PK),</a:t>
            </a:r>
            <a:r>
              <a:rPr sz="1250" spc="2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250" spc="-10" dirty="0">
                <a:solidFill>
                  <a:srgbClr val="334155"/>
                </a:solidFill>
                <a:latin typeface="Lucida Sans"/>
                <a:cs typeface="Lucida Sans"/>
              </a:rPr>
              <a:t>created_at.</a:t>
            </a:r>
            <a:endParaRPr sz="1250">
              <a:latin typeface="Lucida Sans"/>
              <a:cs typeface="Lucida Sans"/>
            </a:endParaRPr>
          </a:p>
          <a:p>
            <a:pPr marL="12700" marR="5080" indent="136525">
              <a:lnSpc>
                <a:spcPct val="142800"/>
              </a:lnSpc>
              <a:spcBef>
                <a:spcPts val="395"/>
              </a:spcBef>
              <a:buFont typeface="Lucida Sans"/>
              <a:buChar char="•"/>
              <a:tabLst>
                <a:tab pos="149225" algn="l"/>
              </a:tabLst>
            </a:pPr>
            <a:r>
              <a:rPr sz="1250" b="1" spc="-10" dirty="0">
                <a:solidFill>
                  <a:srgbClr val="334155"/>
                </a:solidFill>
                <a:latin typeface="Lucida Sans"/>
                <a:cs typeface="Lucida Sans"/>
              </a:rPr>
              <a:t>dim_country:</a:t>
            </a:r>
            <a:r>
              <a:rPr sz="1250" b="1" spc="1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250" spc="-20" dirty="0">
                <a:solidFill>
                  <a:srgbClr val="334155"/>
                </a:solidFill>
                <a:latin typeface="Lucida Sans"/>
                <a:cs typeface="Lucida Sans"/>
              </a:rPr>
              <a:t>country_id</a:t>
            </a:r>
            <a:r>
              <a:rPr sz="1250" spc="1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250" dirty="0">
                <a:solidFill>
                  <a:srgbClr val="334155"/>
                </a:solidFill>
                <a:latin typeface="Lucida Sans"/>
                <a:cs typeface="Lucida Sans"/>
              </a:rPr>
              <a:t>(PK),</a:t>
            </a:r>
            <a:r>
              <a:rPr sz="1250" spc="1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250" spc="-10" dirty="0">
                <a:solidFill>
                  <a:srgbClr val="334155"/>
                </a:solidFill>
                <a:latin typeface="Lucida Sans"/>
                <a:cs typeface="Lucida Sans"/>
              </a:rPr>
              <a:t>country_name</a:t>
            </a:r>
            <a:r>
              <a:rPr sz="1250" spc="1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250" dirty="0">
                <a:solidFill>
                  <a:srgbClr val="334155"/>
                </a:solidFill>
                <a:latin typeface="Lucida Sans"/>
                <a:cs typeface="Lucida Sans"/>
              </a:rPr>
              <a:t>(43</a:t>
            </a:r>
            <a:r>
              <a:rPr sz="1250" spc="1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250" spc="-10" dirty="0">
                <a:solidFill>
                  <a:srgbClr val="334155"/>
                </a:solidFill>
                <a:latin typeface="Lucida Sans"/>
                <a:cs typeface="Lucida Sans"/>
              </a:rPr>
              <a:t>unique countries).</a:t>
            </a:r>
            <a:endParaRPr sz="1250">
              <a:latin typeface="Lucida Sans"/>
              <a:cs typeface="Lucida Sans"/>
            </a:endParaRPr>
          </a:p>
          <a:p>
            <a:pPr marL="12700" marR="319405" indent="136525">
              <a:lnSpc>
                <a:spcPct val="142800"/>
              </a:lnSpc>
              <a:spcBef>
                <a:spcPts val="35"/>
              </a:spcBef>
              <a:buFont typeface="Lucida Sans"/>
              <a:buChar char="•"/>
              <a:tabLst>
                <a:tab pos="149225" algn="l"/>
              </a:tabLst>
            </a:pPr>
            <a:r>
              <a:rPr sz="1250" b="1" dirty="0">
                <a:solidFill>
                  <a:srgbClr val="334155"/>
                </a:solidFill>
                <a:latin typeface="Lucida Sans"/>
                <a:cs typeface="Lucida Sans"/>
              </a:rPr>
              <a:t>System</a:t>
            </a:r>
            <a:r>
              <a:rPr sz="1250" b="1" spc="-7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250" b="1" dirty="0">
                <a:solidFill>
                  <a:srgbClr val="334155"/>
                </a:solidFill>
                <a:latin typeface="Lucida Sans"/>
                <a:cs typeface="Lucida Sans"/>
              </a:rPr>
              <a:t>tables: </a:t>
            </a:r>
            <a:r>
              <a:rPr sz="1250" dirty="0">
                <a:solidFill>
                  <a:srgbClr val="334155"/>
                </a:solidFill>
                <a:latin typeface="Lucida Sans"/>
                <a:cs typeface="Lucida Sans"/>
              </a:rPr>
              <a:t>users</a:t>
            </a:r>
            <a:r>
              <a:rPr sz="1250" spc="-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250" dirty="0">
                <a:solidFill>
                  <a:srgbClr val="334155"/>
                </a:solidFill>
                <a:latin typeface="Lucida Sans"/>
                <a:cs typeface="Lucida Sans"/>
              </a:rPr>
              <a:t>(RBAC state)</a:t>
            </a:r>
            <a:r>
              <a:rPr sz="1250" spc="-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250" dirty="0">
                <a:solidFill>
                  <a:srgbClr val="334155"/>
                </a:solidFill>
                <a:latin typeface="Lucida Sans"/>
                <a:cs typeface="Lucida Sans"/>
              </a:rPr>
              <a:t>and</a:t>
            </a:r>
            <a:r>
              <a:rPr sz="1250" spc="-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250" spc="-10" dirty="0">
                <a:solidFill>
                  <a:srgbClr val="334155"/>
                </a:solidFill>
                <a:latin typeface="Lucida Sans"/>
                <a:cs typeface="Lucida Sans"/>
              </a:rPr>
              <a:t>etl_audit_log (telemetry).</a:t>
            </a:r>
            <a:endParaRPr sz="12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825500" y="515365"/>
            <a:ext cx="146558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64738B"/>
                </a:solidFill>
                <a:latin typeface="Courier New"/>
                <a:cs typeface="Courier New"/>
              </a:rPr>
              <a:t>qUERY</a:t>
            </a:r>
            <a:r>
              <a:rPr sz="1050" b="1" spc="-5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1050" b="1" spc="-10" dirty="0">
                <a:solidFill>
                  <a:srgbClr val="64738B"/>
                </a:solidFill>
                <a:latin typeface="Courier New"/>
                <a:cs typeface="Courier New"/>
              </a:rPr>
              <a:t>OPTIMIZATION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Database</a:t>
            </a:r>
            <a:r>
              <a:rPr spc="-170" dirty="0"/>
              <a:t> </a:t>
            </a:r>
            <a:r>
              <a:rPr spc="-90"/>
              <a:t>Indexing</a:t>
            </a:r>
            <a:r>
              <a:rPr spc="-170" dirty="0"/>
              <a:t> </a:t>
            </a:r>
            <a:r>
              <a:rPr spc="-55" dirty="0"/>
              <a:t>Query</a:t>
            </a:r>
            <a:r>
              <a:rPr spc="-170" dirty="0"/>
              <a:t> </a:t>
            </a:r>
            <a:r>
              <a:rPr spc="-10" dirty="0"/>
              <a:t>Benchmarks</a:t>
            </a:r>
          </a:p>
        </p:txBody>
      </p:sp>
      <p:sp>
        <p:nvSpPr>
          <p:cNvPr id="2" name="object 2"/>
          <p:cNvSpPr/>
          <p:nvPr/>
        </p:nvSpPr>
        <p:spPr>
          <a:xfrm>
            <a:off x="838200" y="1419225"/>
            <a:ext cx="10515600" cy="504825"/>
          </a:xfrm>
          <a:custGeom>
            <a:avLst/>
            <a:gdLst/>
            <a:ahLst/>
            <a:cxnLst/>
            <a:rect l="l" t="t" r="r" b="b"/>
            <a:pathLst>
              <a:path w="10515600" h="504825">
                <a:moveTo>
                  <a:pt x="10439401" y="504824"/>
                </a:moveTo>
                <a:lnTo>
                  <a:pt x="76198" y="504824"/>
                </a:lnTo>
                <a:lnTo>
                  <a:pt x="46538" y="498836"/>
                </a:lnTo>
                <a:lnTo>
                  <a:pt x="22317" y="482507"/>
                </a:lnTo>
                <a:lnTo>
                  <a:pt x="5988" y="458286"/>
                </a:lnTo>
                <a:lnTo>
                  <a:pt x="0" y="428626"/>
                </a:lnTo>
                <a:lnTo>
                  <a:pt x="0" y="76198"/>
                </a:lnTo>
                <a:lnTo>
                  <a:pt x="5988" y="46538"/>
                </a:lnTo>
                <a:lnTo>
                  <a:pt x="22317" y="22317"/>
                </a:lnTo>
                <a:lnTo>
                  <a:pt x="46538" y="5988"/>
                </a:lnTo>
                <a:lnTo>
                  <a:pt x="76198" y="0"/>
                </a:lnTo>
                <a:lnTo>
                  <a:pt x="10439401" y="0"/>
                </a:lnTo>
                <a:lnTo>
                  <a:pt x="10481676" y="12802"/>
                </a:lnTo>
                <a:lnTo>
                  <a:pt x="10509799" y="47038"/>
                </a:lnTo>
                <a:lnTo>
                  <a:pt x="10515599" y="76198"/>
                </a:lnTo>
                <a:lnTo>
                  <a:pt x="10515599" y="428626"/>
                </a:lnTo>
                <a:lnTo>
                  <a:pt x="10509611" y="458286"/>
                </a:lnTo>
                <a:lnTo>
                  <a:pt x="10493282" y="482507"/>
                </a:lnTo>
                <a:lnTo>
                  <a:pt x="10469061" y="498836"/>
                </a:lnTo>
                <a:lnTo>
                  <a:pt x="10439401" y="504824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16000" y="1552829"/>
            <a:ext cx="75234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7BDF7"/>
                </a:solidFill>
                <a:latin typeface="Courier New"/>
                <a:cs typeface="Courier New"/>
              </a:rPr>
              <a:t>CREATE</a:t>
            </a:r>
            <a:r>
              <a:rPr sz="1200" spc="-45" dirty="0">
                <a:solidFill>
                  <a:srgbClr val="37BDF7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37BDF7"/>
                </a:solidFill>
                <a:latin typeface="Courier New"/>
                <a:cs typeface="Courier New"/>
              </a:rPr>
              <a:t>INDEX</a:t>
            </a:r>
            <a:r>
              <a:rPr sz="1200" spc="-45" dirty="0">
                <a:solidFill>
                  <a:srgbClr val="37BDF7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37BDF7"/>
                </a:solidFill>
                <a:latin typeface="Courier New"/>
                <a:cs typeface="Courier New"/>
              </a:rPr>
              <a:t>idx_fact_sales_date_amount</a:t>
            </a:r>
            <a:r>
              <a:rPr sz="1200" spc="-45" dirty="0">
                <a:solidFill>
                  <a:srgbClr val="37BDF7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37BDF7"/>
                </a:solidFill>
                <a:latin typeface="Courier New"/>
                <a:cs typeface="Courier New"/>
              </a:rPr>
              <a:t>ON</a:t>
            </a:r>
            <a:r>
              <a:rPr sz="1200" spc="-45" dirty="0">
                <a:solidFill>
                  <a:srgbClr val="37BDF7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37BDF7"/>
                </a:solidFill>
                <a:latin typeface="Courier New"/>
                <a:cs typeface="Courier New"/>
              </a:rPr>
              <a:t>fact_sales(invoice_date,</a:t>
            </a:r>
            <a:r>
              <a:rPr sz="1200" spc="-45" dirty="0">
                <a:solidFill>
                  <a:srgbClr val="37BDF7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37BDF7"/>
                </a:solidFill>
                <a:latin typeface="Courier New"/>
                <a:cs typeface="Courier New"/>
              </a:rPr>
              <a:t>total_amount);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33437" y="3557587"/>
            <a:ext cx="4340860" cy="1362075"/>
            <a:chOff x="833437" y="3557587"/>
            <a:chExt cx="4340860" cy="1362075"/>
          </a:xfrm>
        </p:grpSpPr>
        <p:sp>
          <p:nvSpPr>
            <p:cNvPr id="4" name="object 4"/>
            <p:cNvSpPr/>
            <p:nvPr/>
          </p:nvSpPr>
          <p:spPr>
            <a:xfrm>
              <a:off x="838200" y="3562350"/>
              <a:ext cx="4331335" cy="1352550"/>
            </a:xfrm>
            <a:custGeom>
              <a:avLst/>
              <a:gdLst/>
              <a:ahLst/>
              <a:cxnLst/>
              <a:rect l="l" t="t" r="r" b="b"/>
              <a:pathLst>
                <a:path w="4331335" h="1352550">
                  <a:moveTo>
                    <a:pt x="4254559" y="1352549"/>
                  </a:moveTo>
                  <a:lnTo>
                    <a:pt x="76189" y="1352549"/>
                  </a:lnTo>
                  <a:lnTo>
                    <a:pt x="46532" y="1346562"/>
                  </a:lnTo>
                  <a:lnTo>
                    <a:pt x="22315" y="1330234"/>
                  </a:lnTo>
                  <a:lnTo>
                    <a:pt x="5987" y="1306017"/>
                  </a:lnTo>
                  <a:lnTo>
                    <a:pt x="0" y="1276360"/>
                  </a:lnTo>
                  <a:lnTo>
                    <a:pt x="0" y="76188"/>
                  </a:lnTo>
                  <a:lnTo>
                    <a:pt x="5987" y="46532"/>
                  </a:lnTo>
                  <a:lnTo>
                    <a:pt x="22315" y="22315"/>
                  </a:lnTo>
                  <a:lnTo>
                    <a:pt x="46532" y="5987"/>
                  </a:lnTo>
                  <a:lnTo>
                    <a:pt x="76189" y="0"/>
                  </a:lnTo>
                  <a:lnTo>
                    <a:pt x="4254559" y="0"/>
                  </a:lnTo>
                  <a:lnTo>
                    <a:pt x="4296829" y="12800"/>
                  </a:lnTo>
                  <a:lnTo>
                    <a:pt x="4324949" y="47032"/>
                  </a:lnTo>
                  <a:lnTo>
                    <a:pt x="4330748" y="76188"/>
                  </a:lnTo>
                  <a:lnTo>
                    <a:pt x="4330748" y="1276360"/>
                  </a:lnTo>
                  <a:lnTo>
                    <a:pt x="4324761" y="1306017"/>
                  </a:lnTo>
                  <a:lnTo>
                    <a:pt x="4308433" y="1330234"/>
                  </a:lnTo>
                  <a:lnTo>
                    <a:pt x="4284216" y="1346562"/>
                  </a:lnTo>
                  <a:lnTo>
                    <a:pt x="4254559" y="135254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38200" y="3562350"/>
              <a:ext cx="4331335" cy="1352550"/>
            </a:xfrm>
            <a:custGeom>
              <a:avLst/>
              <a:gdLst/>
              <a:ahLst/>
              <a:cxnLst/>
              <a:rect l="l" t="t" r="r" b="b"/>
              <a:pathLst>
                <a:path w="4331335" h="1352550">
                  <a:moveTo>
                    <a:pt x="0" y="76188"/>
                  </a:moveTo>
                  <a:lnTo>
                    <a:pt x="5987" y="46532"/>
                  </a:lnTo>
                  <a:lnTo>
                    <a:pt x="22315" y="22315"/>
                  </a:lnTo>
                  <a:lnTo>
                    <a:pt x="46532" y="5987"/>
                  </a:lnTo>
                  <a:lnTo>
                    <a:pt x="76189" y="0"/>
                  </a:lnTo>
                  <a:lnTo>
                    <a:pt x="4254559" y="0"/>
                  </a:lnTo>
                  <a:lnTo>
                    <a:pt x="4296829" y="12800"/>
                  </a:lnTo>
                  <a:lnTo>
                    <a:pt x="4324949" y="47032"/>
                  </a:lnTo>
                  <a:lnTo>
                    <a:pt x="4330748" y="76188"/>
                  </a:lnTo>
                  <a:lnTo>
                    <a:pt x="4330748" y="1276360"/>
                  </a:lnTo>
                  <a:lnTo>
                    <a:pt x="4324761" y="1306017"/>
                  </a:lnTo>
                  <a:lnTo>
                    <a:pt x="4308433" y="1330234"/>
                  </a:lnTo>
                  <a:lnTo>
                    <a:pt x="4284216" y="1346562"/>
                  </a:lnTo>
                  <a:lnTo>
                    <a:pt x="4254559" y="1352549"/>
                  </a:lnTo>
                  <a:lnTo>
                    <a:pt x="76189" y="1352549"/>
                  </a:lnTo>
                  <a:lnTo>
                    <a:pt x="46532" y="1346562"/>
                  </a:lnTo>
                  <a:lnTo>
                    <a:pt x="22315" y="1330234"/>
                  </a:lnTo>
                  <a:lnTo>
                    <a:pt x="5987" y="1306017"/>
                  </a:lnTo>
                  <a:lnTo>
                    <a:pt x="0" y="1276360"/>
                  </a:lnTo>
                  <a:lnTo>
                    <a:pt x="0" y="76188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101725" y="3725862"/>
            <a:ext cx="3289935" cy="918844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100" b="1" dirty="0">
                <a:solidFill>
                  <a:srgbClr val="0F172A"/>
                </a:solidFill>
                <a:latin typeface="Courier New"/>
                <a:cs typeface="Courier New"/>
              </a:rPr>
              <a:t>Single</a:t>
            </a:r>
            <a:r>
              <a:rPr sz="1100" b="1" spc="45" dirty="0">
                <a:solidFill>
                  <a:srgbClr val="0F172A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F172A"/>
                </a:solidFill>
                <a:latin typeface="Courier New"/>
                <a:cs typeface="Courier New"/>
              </a:rPr>
              <a:t>Column</a:t>
            </a:r>
            <a:r>
              <a:rPr sz="1100" b="1" spc="50" dirty="0">
                <a:solidFill>
                  <a:srgbClr val="0F172A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0F172A"/>
                </a:solidFill>
                <a:latin typeface="Courier New"/>
                <a:cs typeface="Courier New"/>
              </a:rPr>
              <a:t>Indexes: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ct val="150000"/>
              </a:lnSpc>
              <a:spcBef>
                <a:spcPts val="85"/>
              </a:spcBef>
            </a:pPr>
            <a:r>
              <a:rPr sz="1350" dirty="0">
                <a:solidFill>
                  <a:srgbClr val="334155"/>
                </a:solidFill>
                <a:latin typeface="Lucida Sans"/>
                <a:cs typeface="Lucida Sans"/>
              </a:rPr>
              <a:t>stock_code</a:t>
            </a:r>
            <a:r>
              <a:rPr sz="1350" spc="-7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20" dirty="0">
                <a:solidFill>
                  <a:srgbClr val="334155"/>
                </a:solidFill>
                <a:latin typeface="Lucida Sans"/>
                <a:cs typeface="Lucida Sans"/>
              </a:rPr>
              <a:t>and</a:t>
            </a:r>
            <a:r>
              <a:rPr sz="1350" spc="-6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25" dirty="0">
                <a:solidFill>
                  <a:srgbClr val="334155"/>
                </a:solidFill>
                <a:latin typeface="Lucida Sans"/>
                <a:cs typeface="Lucida Sans"/>
              </a:rPr>
              <a:t>customer_id</a:t>
            </a:r>
            <a:r>
              <a:rPr sz="1350" spc="-6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35" dirty="0">
                <a:solidFill>
                  <a:srgbClr val="334155"/>
                </a:solidFill>
                <a:latin typeface="Lucida Sans"/>
                <a:cs typeface="Lucida Sans"/>
              </a:rPr>
              <a:t>foreign</a:t>
            </a:r>
            <a:r>
              <a:rPr sz="1350" spc="-7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25" dirty="0">
                <a:solidFill>
                  <a:srgbClr val="334155"/>
                </a:solidFill>
                <a:latin typeface="Lucida Sans"/>
                <a:cs typeface="Lucida Sans"/>
              </a:rPr>
              <a:t>key </a:t>
            </a:r>
            <a:r>
              <a:rPr sz="1350" spc="-10" dirty="0">
                <a:solidFill>
                  <a:srgbClr val="334155"/>
                </a:solidFill>
                <a:latin typeface="Lucida Sans"/>
                <a:cs typeface="Lucida Sans"/>
              </a:rPr>
              <a:t>lookups.</a:t>
            </a:r>
            <a:endParaRPr sz="1350">
              <a:latin typeface="Lucida Sans"/>
              <a:cs typeface="Lucida San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507086" y="3091159"/>
            <a:ext cx="5851525" cy="2295525"/>
            <a:chOff x="5507086" y="3091159"/>
            <a:chExt cx="5851525" cy="2295525"/>
          </a:xfrm>
        </p:grpSpPr>
        <p:sp>
          <p:nvSpPr>
            <p:cNvPr id="7" name="object 7"/>
            <p:cNvSpPr/>
            <p:nvPr/>
          </p:nvSpPr>
          <p:spPr>
            <a:xfrm>
              <a:off x="5511848" y="3095922"/>
              <a:ext cx="5842000" cy="2286000"/>
            </a:xfrm>
            <a:custGeom>
              <a:avLst/>
              <a:gdLst/>
              <a:ahLst/>
              <a:cxnLst/>
              <a:rect l="l" t="t" r="r" b="b"/>
              <a:pathLst>
                <a:path w="5842000" h="2286000">
                  <a:moveTo>
                    <a:pt x="5765755" y="2285404"/>
                  </a:moveTo>
                  <a:lnTo>
                    <a:pt x="76195" y="2285404"/>
                  </a:lnTo>
                  <a:lnTo>
                    <a:pt x="46537" y="2279416"/>
                  </a:lnTo>
                  <a:lnTo>
                    <a:pt x="22317" y="2263086"/>
                  </a:lnTo>
                  <a:lnTo>
                    <a:pt x="5987" y="2238867"/>
                  </a:lnTo>
                  <a:lnTo>
                    <a:pt x="0" y="2209208"/>
                  </a:lnTo>
                  <a:lnTo>
                    <a:pt x="0" y="76195"/>
                  </a:lnTo>
                  <a:lnTo>
                    <a:pt x="5987" y="46536"/>
                  </a:lnTo>
                  <a:lnTo>
                    <a:pt x="22317" y="22317"/>
                  </a:lnTo>
                  <a:lnTo>
                    <a:pt x="46537" y="5987"/>
                  </a:lnTo>
                  <a:lnTo>
                    <a:pt x="76195" y="0"/>
                  </a:lnTo>
                  <a:lnTo>
                    <a:pt x="5765755" y="0"/>
                  </a:lnTo>
                  <a:lnTo>
                    <a:pt x="5808028" y="12801"/>
                  </a:lnTo>
                  <a:lnTo>
                    <a:pt x="5836150" y="47036"/>
                  </a:lnTo>
                  <a:lnTo>
                    <a:pt x="5841950" y="76195"/>
                  </a:lnTo>
                  <a:lnTo>
                    <a:pt x="5841950" y="2209208"/>
                  </a:lnTo>
                  <a:lnTo>
                    <a:pt x="5835962" y="2238867"/>
                  </a:lnTo>
                  <a:lnTo>
                    <a:pt x="5819633" y="2263086"/>
                  </a:lnTo>
                  <a:lnTo>
                    <a:pt x="5795413" y="2279416"/>
                  </a:lnTo>
                  <a:lnTo>
                    <a:pt x="5765755" y="2285404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11848" y="3095922"/>
              <a:ext cx="5842000" cy="2286000"/>
            </a:xfrm>
            <a:custGeom>
              <a:avLst/>
              <a:gdLst/>
              <a:ahLst/>
              <a:cxnLst/>
              <a:rect l="l" t="t" r="r" b="b"/>
              <a:pathLst>
                <a:path w="5842000" h="2286000">
                  <a:moveTo>
                    <a:pt x="0" y="76195"/>
                  </a:moveTo>
                  <a:lnTo>
                    <a:pt x="5987" y="46536"/>
                  </a:lnTo>
                  <a:lnTo>
                    <a:pt x="22317" y="22317"/>
                  </a:lnTo>
                  <a:lnTo>
                    <a:pt x="46537" y="5987"/>
                  </a:lnTo>
                  <a:lnTo>
                    <a:pt x="76195" y="0"/>
                  </a:lnTo>
                  <a:lnTo>
                    <a:pt x="5765755" y="0"/>
                  </a:lnTo>
                  <a:lnTo>
                    <a:pt x="5808028" y="12801"/>
                  </a:lnTo>
                  <a:lnTo>
                    <a:pt x="5836150" y="47036"/>
                  </a:lnTo>
                  <a:lnTo>
                    <a:pt x="5841950" y="76195"/>
                  </a:lnTo>
                  <a:lnTo>
                    <a:pt x="5841950" y="2209208"/>
                  </a:lnTo>
                  <a:lnTo>
                    <a:pt x="5835962" y="2238867"/>
                  </a:lnTo>
                  <a:lnTo>
                    <a:pt x="5819633" y="2263086"/>
                  </a:lnTo>
                  <a:lnTo>
                    <a:pt x="5795413" y="2279416"/>
                  </a:lnTo>
                  <a:lnTo>
                    <a:pt x="5765755" y="2285404"/>
                  </a:lnTo>
                  <a:lnTo>
                    <a:pt x="76195" y="2285404"/>
                  </a:lnTo>
                  <a:lnTo>
                    <a:pt x="46537" y="2279416"/>
                  </a:lnTo>
                  <a:lnTo>
                    <a:pt x="22317" y="2263086"/>
                  </a:lnTo>
                  <a:lnTo>
                    <a:pt x="5987" y="2238867"/>
                  </a:lnTo>
                  <a:lnTo>
                    <a:pt x="0" y="2209208"/>
                  </a:lnTo>
                  <a:lnTo>
                    <a:pt x="0" y="76195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Performance</a:t>
            </a:r>
            <a:r>
              <a:rPr spc="80" dirty="0"/>
              <a:t> </a:t>
            </a:r>
            <a:r>
              <a:rPr spc="-10" dirty="0"/>
              <a:t>Impact:</a:t>
            </a:r>
          </a:p>
          <a:p>
            <a:pPr marL="156210" indent="-143510">
              <a:lnSpc>
                <a:spcPct val="100000"/>
              </a:lnSpc>
              <a:spcBef>
                <a:spcPts val="1045"/>
              </a:spcBef>
              <a:buChar char="•"/>
              <a:tabLst>
                <a:tab pos="156210" algn="l"/>
              </a:tabLst>
            </a:pPr>
            <a:r>
              <a:rPr sz="1350" b="0" spc="-35" dirty="0">
                <a:solidFill>
                  <a:srgbClr val="334155"/>
                </a:solidFill>
                <a:latin typeface="Lucida Sans"/>
                <a:cs typeface="Lucida Sans"/>
              </a:rPr>
              <a:t>Eliminates</a:t>
            </a:r>
            <a:r>
              <a:rPr sz="1350" b="0" spc="-4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b="0" spc="-50" dirty="0">
                <a:solidFill>
                  <a:srgbClr val="334155"/>
                </a:solidFill>
                <a:latin typeface="Lucida Sans"/>
                <a:cs typeface="Lucida Sans"/>
              </a:rPr>
              <a:t>full</a:t>
            </a:r>
            <a:r>
              <a:rPr sz="1350" b="0" spc="-4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b="0" spc="-20" dirty="0">
                <a:solidFill>
                  <a:srgbClr val="334155"/>
                </a:solidFill>
                <a:latin typeface="Lucida Sans"/>
                <a:cs typeface="Lucida Sans"/>
              </a:rPr>
              <a:t>table</a:t>
            </a:r>
            <a:r>
              <a:rPr sz="1350" b="0" spc="-4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b="0" dirty="0">
                <a:solidFill>
                  <a:srgbClr val="334155"/>
                </a:solidFill>
                <a:latin typeface="Lucida Sans"/>
                <a:cs typeface="Lucida Sans"/>
              </a:rPr>
              <a:t>scans</a:t>
            </a:r>
            <a:r>
              <a:rPr sz="1350" b="0" spc="-4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b="0" spc="-20" dirty="0">
                <a:solidFill>
                  <a:srgbClr val="334155"/>
                </a:solidFill>
                <a:latin typeface="Lucida Sans"/>
                <a:cs typeface="Lucida Sans"/>
              </a:rPr>
              <a:t>on</a:t>
            </a:r>
            <a:r>
              <a:rPr sz="1350" b="0" spc="-40" dirty="0">
                <a:solidFill>
                  <a:srgbClr val="334155"/>
                </a:solidFill>
                <a:latin typeface="Lucida Sans"/>
                <a:cs typeface="Lucida Sans"/>
              </a:rPr>
              <a:t> monthly </a:t>
            </a:r>
            <a:r>
              <a:rPr sz="1350" b="0" spc="-10" dirty="0">
                <a:solidFill>
                  <a:srgbClr val="334155"/>
                </a:solidFill>
                <a:latin typeface="Lucida Sans"/>
                <a:cs typeface="Lucida Sans"/>
              </a:rPr>
              <a:t>revenue</a:t>
            </a:r>
            <a:r>
              <a:rPr sz="1350" b="0" spc="-4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b="0" spc="-10" dirty="0">
                <a:solidFill>
                  <a:srgbClr val="334155"/>
                </a:solidFill>
                <a:latin typeface="Lucida Sans"/>
                <a:cs typeface="Lucida Sans"/>
              </a:rPr>
              <a:t>aggregation.</a:t>
            </a:r>
            <a:endParaRPr sz="1350">
              <a:latin typeface="Lucida Sans"/>
              <a:cs typeface="Lucida Sans"/>
            </a:endParaRPr>
          </a:p>
          <a:p>
            <a:pPr marL="12700" marR="5080" indent="143510">
              <a:lnSpc>
                <a:spcPct val="139900"/>
              </a:lnSpc>
              <a:spcBef>
                <a:spcPts val="520"/>
              </a:spcBef>
              <a:buChar char="•"/>
              <a:tabLst>
                <a:tab pos="156210" algn="l"/>
              </a:tabLst>
            </a:pPr>
            <a:r>
              <a:rPr sz="1350" b="0" spc="-20" dirty="0">
                <a:solidFill>
                  <a:srgbClr val="334155"/>
                </a:solidFill>
                <a:latin typeface="Lucida Sans"/>
                <a:cs typeface="Lucida Sans"/>
              </a:rPr>
              <a:t>Analytical</a:t>
            </a:r>
            <a:r>
              <a:rPr sz="1350" b="0" spc="-5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b="0" spc="-25" dirty="0">
                <a:solidFill>
                  <a:srgbClr val="334155"/>
                </a:solidFill>
                <a:latin typeface="Lucida Sans"/>
                <a:cs typeface="Lucida Sans"/>
              </a:rPr>
              <a:t>dashboard</a:t>
            </a:r>
            <a:r>
              <a:rPr sz="1350" b="0" spc="-5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b="0" spc="-10" dirty="0">
                <a:solidFill>
                  <a:srgbClr val="334155"/>
                </a:solidFill>
                <a:latin typeface="Lucida Sans"/>
                <a:cs typeface="Lucida Sans"/>
              </a:rPr>
              <a:t>queries</a:t>
            </a:r>
            <a:r>
              <a:rPr sz="1350" b="0" spc="-5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b="0" spc="-20" dirty="0">
                <a:solidFill>
                  <a:srgbClr val="334155"/>
                </a:solidFill>
                <a:latin typeface="Lucida Sans"/>
                <a:cs typeface="Lucida Sans"/>
              </a:rPr>
              <a:t>execute</a:t>
            </a:r>
            <a:r>
              <a:rPr sz="1350" b="0" spc="-5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b="0" spc="-60" dirty="0">
                <a:solidFill>
                  <a:srgbClr val="334155"/>
                </a:solidFill>
                <a:latin typeface="Lucida Sans"/>
                <a:cs typeface="Lucida Sans"/>
              </a:rPr>
              <a:t>in</a:t>
            </a:r>
            <a:r>
              <a:rPr sz="1350" b="0" spc="-5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b="0" spc="-25" dirty="0">
                <a:solidFill>
                  <a:srgbClr val="334155"/>
                </a:solidFill>
                <a:latin typeface="Lucida Sans"/>
                <a:cs typeface="Lucida Sans"/>
              </a:rPr>
              <a:t>under</a:t>
            </a:r>
            <a:r>
              <a:rPr sz="1350" b="0" spc="-5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b="0" spc="-120" dirty="0">
                <a:solidFill>
                  <a:srgbClr val="334155"/>
                </a:solidFill>
                <a:latin typeface="Lucida Sans"/>
                <a:cs typeface="Lucida Sans"/>
              </a:rPr>
              <a:t>120</a:t>
            </a:r>
            <a:r>
              <a:rPr sz="1350" b="0" spc="-5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b="0" spc="-10" dirty="0">
                <a:solidFill>
                  <a:srgbClr val="334155"/>
                </a:solidFill>
                <a:latin typeface="Lucida Sans"/>
                <a:cs typeface="Lucida Sans"/>
              </a:rPr>
              <a:t>ms</a:t>
            </a:r>
            <a:r>
              <a:rPr sz="1350" b="0" spc="-5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b="0" spc="-10" dirty="0">
                <a:solidFill>
                  <a:srgbClr val="334155"/>
                </a:solidFill>
                <a:latin typeface="Lucida Sans"/>
                <a:cs typeface="Lucida Sans"/>
              </a:rPr>
              <a:t>across </a:t>
            </a:r>
            <a:r>
              <a:rPr sz="1350" b="0" spc="-85" dirty="0">
                <a:solidFill>
                  <a:srgbClr val="334155"/>
                </a:solidFill>
                <a:latin typeface="Lucida Sans"/>
                <a:cs typeface="Lucida Sans"/>
              </a:rPr>
              <a:t>1M+</a:t>
            </a:r>
            <a:r>
              <a:rPr sz="1350" b="0" spc="-3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b="0" spc="-10" dirty="0">
                <a:solidFill>
                  <a:srgbClr val="334155"/>
                </a:solidFill>
                <a:latin typeface="Lucida Sans"/>
                <a:cs typeface="Lucida Sans"/>
              </a:rPr>
              <a:t>rows.</a:t>
            </a:r>
            <a:endParaRPr sz="1350">
              <a:latin typeface="Lucida Sans"/>
              <a:cs typeface="Lucida Sans"/>
            </a:endParaRPr>
          </a:p>
          <a:p>
            <a:pPr marL="12700" marR="140335" indent="143510">
              <a:lnSpc>
                <a:spcPct val="139900"/>
              </a:lnSpc>
              <a:spcBef>
                <a:spcPts val="145"/>
              </a:spcBef>
              <a:buChar char="•"/>
              <a:tabLst>
                <a:tab pos="156210" algn="l"/>
              </a:tabLst>
            </a:pPr>
            <a:r>
              <a:rPr sz="1350" b="0" spc="-30" dirty="0">
                <a:solidFill>
                  <a:srgbClr val="334155"/>
                </a:solidFill>
                <a:latin typeface="Lucida Sans"/>
                <a:cs typeface="Lucida Sans"/>
              </a:rPr>
              <a:t>Avoided</a:t>
            </a:r>
            <a:r>
              <a:rPr sz="1350" b="0" spc="-5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b="0" spc="-20" dirty="0">
                <a:solidFill>
                  <a:srgbClr val="334155"/>
                </a:solidFill>
                <a:latin typeface="Lucida Sans"/>
                <a:cs typeface="Lucida Sans"/>
              </a:rPr>
              <a:t>single-</a:t>
            </a:r>
            <a:r>
              <a:rPr sz="1350" b="0" spc="-10" dirty="0">
                <a:solidFill>
                  <a:srgbClr val="334155"/>
                </a:solidFill>
                <a:latin typeface="Lucida Sans"/>
                <a:cs typeface="Lucida Sans"/>
              </a:rPr>
              <a:t>column</a:t>
            </a:r>
            <a:r>
              <a:rPr sz="1350" b="0" spc="-5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b="0" spc="-10" dirty="0">
                <a:solidFill>
                  <a:srgbClr val="334155"/>
                </a:solidFill>
                <a:latin typeface="Lucida Sans"/>
                <a:cs typeface="Lucida Sans"/>
              </a:rPr>
              <a:t>date</a:t>
            </a:r>
            <a:r>
              <a:rPr sz="1350" b="0" spc="-5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b="0" spc="-45" dirty="0">
                <a:solidFill>
                  <a:srgbClr val="334155"/>
                </a:solidFill>
                <a:latin typeface="Lucida Sans"/>
                <a:cs typeface="Lucida Sans"/>
              </a:rPr>
              <a:t>index</a:t>
            </a:r>
            <a:r>
              <a:rPr sz="1350" b="0" spc="-5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b="0" spc="-45" dirty="0">
                <a:solidFill>
                  <a:srgbClr val="334155"/>
                </a:solidFill>
                <a:latin typeface="Lucida Sans"/>
                <a:cs typeface="Lucida Sans"/>
              </a:rPr>
              <a:t>to</a:t>
            </a:r>
            <a:r>
              <a:rPr sz="1350" b="0" spc="-5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b="0" dirty="0">
                <a:solidFill>
                  <a:srgbClr val="334155"/>
                </a:solidFill>
                <a:latin typeface="Lucida Sans"/>
                <a:cs typeface="Lucida Sans"/>
              </a:rPr>
              <a:t>reduce</a:t>
            </a:r>
            <a:r>
              <a:rPr sz="1350" b="0" spc="-5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b="0" spc="-10" dirty="0">
                <a:solidFill>
                  <a:srgbClr val="334155"/>
                </a:solidFill>
                <a:latin typeface="Lucida Sans"/>
                <a:cs typeface="Lucida Sans"/>
              </a:rPr>
              <a:t>write</a:t>
            </a:r>
            <a:r>
              <a:rPr sz="1350" b="0" spc="-5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b="0" spc="-10" dirty="0">
                <a:solidFill>
                  <a:srgbClr val="334155"/>
                </a:solidFill>
                <a:latin typeface="Lucida Sans"/>
                <a:cs typeface="Lucida Sans"/>
              </a:rPr>
              <a:t>overhead </a:t>
            </a:r>
            <a:r>
              <a:rPr sz="1350" b="0" spc="-40" dirty="0">
                <a:solidFill>
                  <a:srgbClr val="334155"/>
                </a:solidFill>
                <a:latin typeface="Lucida Sans"/>
                <a:cs typeface="Lucida Sans"/>
              </a:rPr>
              <a:t>during</a:t>
            </a:r>
            <a:r>
              <a:rPr sz="1350" b="0" spc="-50" dirty="0">
                <a:solidFill>
                  <a:srgbClr val="334155"/>
                </a:solidFill>
                <a:latin typeface="Lucida Sans"/>
                <a:cs typeface="Lucida Sans"/>
              </a:rPr>
              <a:t> bulk</a:t>
            </a:r>
            <a:r>
              <a:rPr sz="1350" b="0" spc="-4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b="0" spc="-10" dirty="0">
                <a:solidFill>
                  <a:srgbClr val="334155"/>
                </a:solidFill>
                <a:latin typeface="Lucida Sans"/>
                <a:cs typeface="Lucida Sans"/>
              </a:rPr>
              <a:t>inserts.</a:t>
            </a:r>
            <a:endParaRPr sz="13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25500" y="515365"/>
            <a:ext cx="114554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64738B"/>
                </a:solidFill>
                <a:latin typeface="Courier New"/>
                <a:cs typeface="Courier New"/>
              </a:rPr>
              <a:t>SECURITY</a:t>
            </a:r>
            <a:r>
              <a:rPr sz="1050" b="1" spc="-5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1050" b="1" spc="-10" dirty="0">
                <a:solidFill>
                  <a:srgbClr val="64738B"/>
                </a:solidFill>
                <a:latin typeface="Courier New"/>
                <a:cs typeface="Courier New"/>
              </a:rPr>
              <a:t>MODEL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/>
              <a:t>Authentication</a:t>
            </a:r>
            <a:r>
              <a:rPr spc="-165" dirty="0"/>
              <a:t> </a:t>
            </a:r>
            <a:r>
              <a:rPr spc="-20" dirty="0"/>
              <a:t>RBAC</a:t>
            </a:r>
            <a:r>
              <a:rPr spc="-165" dirty="0"/>
              <a:t> </a:t>
            </a:r>
            <a:r>
              <a:rPr spc="-20" dirty="0"/>
              <a:t>Gate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33437" y="2277665"/>
            <a:ext cx="10525125" cy="609600"/>
            <a:chOff x="833437" y="2277665"/>
            <a:chExt cx="10525125" cy="609600"/>
          </a:xfrm>
        </p:grpSpPr>
        <p:sp>
          <p:nvSpPr>
            <p:cNvPr id="4" name="object 4"/>
            <p:cNvSpPr/>
            <p:nvPr/>
          </p:nvSpPr>
          <p:spPr>
            <a:xfrm>
              <a:off x="838200" y="2282427"/>
              <a:ext cx="10515600" cy="600075"/>
            </a:xfrm>
            <a:custGeom>
              <a:avLst/>
              <a:gdLst/>
              <a:ahLst/>
              <a:cxnLst/>
              <a:rect l="l" t="t" r="r" b="b"/>
              <a:pathLst>
                <a:path w="10515600" h="600075">
                  <a:moveTo>
                    <a:pt x="10439402" y="600074"/>
                  </a:moveTo>
                  <a:lnTo>
                    <a:pt x="76197" y="600074"/>
                  </a:lnTo>
                  <a:lnTo>
                    <a:pt x="46538" y="594087"/>
                  </a:lnTo>
                  <a:lnTo>
                    <a:pt x="22317" y="577757"/>
                  </a:lnTo>
                  <a:lnTo>
                    <a:pt x="5987" y="553537"/>
                  </a:lnTo>
                  <a:lnTo>
                    <a:pt x="0" y="523877"/>
                  </a:lnTo>
                  <a:lnTo>
                    <a:pt x="0" y="76197"/>
                  </a:lnTo>
                  <a:lnTo>
                    <a:pt x="5987" y="46537"/>
                  </a:lnTo>
                  <a:lnTo>
                    <a:pt x="22317" y="22317"/>
                  </a:lnTo>
                  <a:lnTo>
                    <a:pt x="46538" y="5987"/>
                  </a:lnTo>
                  <a:lnTo>
                    <a:pt x="76197" y="0"/>
                  </a:lnTo>
                  <a:lnTo>
                    <a:pt x="10439402" y="0"/>
                  </a:lnTo>
                  <a:lnTo>
                    <a:pt x="10481676" y="12802"/>
                  </a:lnTo>
                  <a:lnTo>
                    <a:pt x="10509799" y="47037"/>
                  </a:lnTo>
                  <a:lnTo>
                    <a:pt x="10515599" y="76197"/>
                  </a:lnTo>
                  <a:lnTo>
                    <a:pt x="10515599" y="523877"/>
                  </a:lnTo>
                  <a:lnTo>
                    <a:pt x="10509611" y="553537"/>
                  </a:lnTo>
                  <a:lnTo>
                    <a:pt x="10493282" y="577757"/>
                  </a:lnTo>
                  <a:lnTo>
                    <a:pt x="10469061" y="594087"/>
                  </a:lnTo>
                  <a:lnTo>
                    <a:pt x="10439402" y="6000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38200" y="2282427"/>
              <a:ext cx="10515600" cy="600075"/>
            </a:xfrm>
            <a:custGeom>
              <a:avLst/>
              <a:gdLst/>
              <a:ahLst/>
              <a:cxnLst/>
              <a:rect l="l" t="t" r="r" b="b"/>
              <a:pathLst>
                <a:path w="10515600" h="600075">
                  <a:moveTo>
                    <a:pt x="0" y="76197"/>
                  </a:moveTo>
                  <a:lnTo>
                    <a:pt x="5987" y="46537"/>
                  </a:lnTo>
                  <a:lnTo>
                    <a:pt x="22317" y="22317"/>
                  </a:lnTo>
                  <a:lnTo>
                    <a:pt x="46538" y="5987"/>
                  </a:lnTo>
                  <a:lnTo>
                    <a:pt x="76197" y="0"/>
                  </a:lnTo>
                  <a:lnTo>
                    <a:pt x="10439402" y="0"/>
                  </a:lnTo>
                  <a:lnTo>
                    <a:pt x="10481676" y="12802"/>
                  </a:lnTo>
                  <a:lnTo>
                    <a:pt x="10509799" y="47037"/>
                  </a:lnTo>
                  <a:lnTo>
                    <a:pt x="10515599" y="76197"/>
                  </a:lnTo>
                  <a:lnTo>
                    <a:pt x="10515599" y="523877"/>
                  </a:lnTo>
                  <a:lnTo>
                    <a:pt x="10509611" y="553537"/>
                  </a:lnTo>
                  <a:lnTo>
                    <a:pt x="10493282" y="577757"/>
                  </a:lnTo>
                  <a:lnTo>
                    <a:pt x="10469061" y="594087"/>
                  </a:lnTo>
                  <a:lnTo>
                    <a:pt x="10439402" y="600074"/>
                  </a:lnTo>
                  <a:lnTo>
                    <a:pt x="76197" y="600074"/>
                  </a:lnTo>
                  <a:lnTo>
                    <a:pt x="46538" y="594087"/>
                  </a:lnTo>
                  <a:lnTo>
                    <a:pt x="22317" y="577757"/>
                  </a:lnTo>
                  <a:lnTo>
                    <a:pt x="5987" y="553537"/>
                  </a:lnTo>
                  <a:lnTo>
                    <a:pt x="0" y="523877"/>
                  </a:lnTo>
                  <a:lnTo>
                    <a:pt x="0" y="76197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063625" y="2462895"/>
            <a:ext cx="6993255" cy="22057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75" dirty="0">
                <a:solidFill>
                  <a:srgbClr val="0F172A"/>
                </a:solidFill>
                <a:latin typeface="Lucida Sans"/>
                <a:cs typeface="Lucida Sans"/>
              </a:rPr>
              <a:t>Token</a:t>
            </a:r>
            <a:r>
              <a:rPr sz="1350" b="1" spc="-100" dirty="0">
                <a:solidFill>
                  <a:srgbClr val="0F172A"/>
                </a:solidFill>
                <a:latin typeface="Lucida Sans"/>
                <a:cs typeface="Lucida Sans"/>
              </a:rPr>
              <a:t> </a:t>
            </a:r>
            <a:r>
              <a:rPr sz="1350" b="1" dirty="0">
                <a:solidFill>
                  <a:srgbClr val="0F172A"/>
                </a:solidFill>
                <a:latin typeface="Lucida Sans"/>
                <a:cs typeface="Lucida Sans"/>
              </a:rPr>
              <a:t>Model:</a:t>
            </a:r>
            <a:r>
              <a:rPr sz="1350" b="1" spc="-25" dirty="0">
                <a:solidFill>
                  <a:srgbClr val="0F172A"/>
                </a:solidFill>
                <a:latin typeface="Lucida Sans"/>
                <a:cs typeface="Lucida Sans"/>
              </a:rPr>
              <a:t> </a:t>
            </a:r>
            <a:r>
              <a:rPr sz="1350" dirty="0">
                <a:solidFill>
                  <a:srgbClr val="0F172A"/>
                </a:solidFill>
                <a:latin typeface="Lucida Sans"/>
                <a:cs typeface="Lucida Sans"/>
              </a:rPr>
              <a:t>Stateless</a:t>
            </a:r>
            <a:r>
              <a:rPr sz="1350" spc="-30" dirty="0">
                <a:solidFill>
                  <a:srgbClr val="0F172A"/>
                </a:solidFill>
                <a:latin typeface="Lucida Sans"/>
                <a:cs typeface="Lucida Sans"/>
              </a:rPr>
              <a:t> </a:t>
            </a:r>
            <a:r>
              <a:rPr lang="en-US" sz="1350" spc="114" dirty="0">
                <a:solidFill>
                  <a:srgbClr val="0F172A"/>
                </a:solidFill>
                <a:latin typeface="Lucida Sans"/>
                <a:cs typeface="Lucida Sans"/>
              </a:rPr>
              <a:t>JWT</a:t>
            </a:r>
            <a:r>
              <a:rPr sz="1350" spc="-25" dirty="0">
                <a:solidFill>
                  <a:srgbClr val="0F172A"/>
                </a:solidFill>
                <a:latin typeface="Lucida Sans"/>
                <a:cs typeface="Lucida Sans"/>
              </a:rPr>
              <a:t> </a:t>
            </a:r>
            <a:r>
              <a:rPr sz="1350" spc="-10" dirty="0">
                <a:solidFill>
                  <a:srgbClr val="0F172A"/>
                </a:solidFill>
                <a:latin typeface="Lucida Sans"/>
                <a:cs typeface="Lucida Sans"/>
              </a:rPr>
              <a:t>bearer</a:t>
            </a:r>
            <a:r>
              <a:rPr sz="1350" spc="-30" dirty="0">
                <a:solidFill>
                  <a:srgbClr val="0F172A"/>
                </a:solidFill>
                <a:latin typeface="Lucida Sans"/>
                <a:cs typeface="Lucida Sans"/>
              </a:rPr>
              <a:t> tokens </a:t>
            </a:r>
            <a:r>
              <a:rPr sz="1350" dirty="0">
                <a:solidFill>
                  <a:srgbClr val="0F172A"/>
                </a:solidFill>
                <a:latin typeface="Lucida Sans"/>
                <a:cs typeface="Lucida Sans"/>
              </a:rPr>
              <a:t>(HS256)</a:t>
            </a:r>
            <a:r>
              <a:rPr sz="1350" spc="-30" dirty="0">
                <a:solidFill>
                  <a:srgbClr val="0F172A"/>
                </a:solidFill>
                <a:latin typeface="Lucida Sans"/>
                <a:cs typeface="Lucida Sans"/>
              </a:rPr>
              <a:t> </a:t>
            </a:r>
            <a:r>
              <a:rPr sz="1350" spc="-25" dirty="0">
                <a:solidFill>
                  <a:srgbClr val="0F172A"/>
                </a:solidFill>
                <a:latin typeface="Lucida Sans"/>
                <a:cs typeface="Lucida Sans"/>
              </a:rPr>
              <a:t>with</a:t>
            </a:r>
            <a:r>
              <a:rPr sz="1350" spc="-30" dirty="0">
                <a:solidFill>
                  <a:srgbClr val="0F172A"/>
                </a:solidFill>
                <a:latin typeface="Lucida Sans"/>
                <a:cs typeface="Lucida Sans"/>
              </a:rPr>
              <a:t> </a:t>
            </a:r>
            <a:r>
              <a:rPr sz="1350" dirty="0" err="1">
                <a:solidFill>
                  <a:srgbClr val="0F172A"/>
                </a:solidFill>
                <a:latin typeface="Lucida Sans"/>
                <a:cs typeface="Lucida Sans"/>
              </a:rPr>
              <a:t>Bcrypt</a:t>
            </a:r>
            <a:r>
              <a:rPr sz="1350" spc="-25" dirty="0">
                <a:solidFill>
                  <a:srgbClr val="0F172A"/>
                </a:solidFill>
                <a:latin typeface="Lucida Sans"/>
                <a:cs typeface="Lucida Sans"/>
              </a:rPr>
              <a:t> </a:t>
            </a:r>
            <a:r>
              <a:rPr sz="1350" spc="-10" dirty="0">
                <a:solidFill>
                  <a:srgbClr val="0F172A"/>
                </a:solidFill>
                <a:latin typeface="Lucida Sans"/>
                <a:cs typeface="Lucida Sans"/>
              </a:rPr>
              <a:t>password</a:t>
            </a:r>
            <a:r>
              <a:rPr sz="1350" spc="-30" dirty="0">
                <a:solidFill>
                  <a:srgbClr val="0F172A"/>
                </a:solidFill>
                <a:latin typeface="Lucida Sans"/>
                <a:cs typeface="Lucida Sans"/>
              </a:rPr>
              <a:t> </a:t>
            </a:r>
            <a:r>
              <a:rPr sz="1350" spc="-10" dirty="0">
                <a:solidFill>
                  <a:srgbClr val="0F172A"/>
                </a:solidFill>
                <a:latin typeface="Lucida Sans"/>
                <a:cs typeface="Lucida Sans"/>
              </a:rPr>
              <a:t>hashing.</a:t>
            </a:r>
            <a:endParaRPr sz="1350">
              <a:latin typeface="Lucida Sans"/>
              <a:cs typeface="Lucida San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33437" y="3068240"/>
            <a:ext cx="10525125" cy="1365885"/>
            <a:chOff x="833437" y="3068240"/>
            <a:chExt cx="10525125" cy="1365885"/>
          </a:xfrm>
        </p:grpSpPr>
        <p:sp>
          <p:nvSpPr>
            <p:cNvPr id="7" name="object 7"/>
            <p:cNvSpPr/>
            <p:nvPr/>
          </p:nvSpPr>
          <p:spPr>
            <a:xfrm>
              <a:off x="838200" y="3073002"/>
              <a:ext cx="10515600" cy="1356360"/>
            </a:xfrm>
            <a:custGeom>
              <a:avLst/>
              <a:gdLst/>
              <a:ahLst/>
              <a:cxnLst/>
              <a:rect l="l" t="t" r="r" b="b"/>
              <a:pathLst>
                <a:path w="10515600" h="1356360">
                  <a:moveTo>
                    <a:pt x="10439413" y="1356120"/>
                  </a:moveTo>
                  <a:lnTo>
                    <a:pt x="76186" y="1356120"/>
                  </a:lnTo>
                  <a:lnTo>
                    <a:pt x="46531" y="1350133"/>
                  </a:lnTo>
                  <a:lnTo>
                    <a:pt x="22314" y="1333806"/>
                  </a:lnTo>
                  <a:lnTo>
                    <a:pt x="5987" y="1309589"/>
                  </a:lnTo>
                  <a:lnTo>
                    <a:pt x="0" y="1279933"/>
                  </a:lnTo>
                  <a:lnTo>
                    <a:pt x="0" y="76186"/>
                  </a:lnTo>
                  <a:lnTo>
                    <a:pt x="5987" y="46531"/>
                  </a:lnTo>
                  <a:lnTo>
                    <a:pt x="22314" y="22314"/>
                  </a:lnTo>
                  <a:lnTo>
                    <a:pt x="46531" y="5987"/>
                  </a:lnTo>
                  <a:lnTo>
                    <a:pt x="76186" y="0"/>
                  </a:lnTo>
                  <a:lnTo>
                    <a:pt x="10439413" y="0"/>
                  </a:lnTo>
                  <a:lnTo>
                    <a:pt x="10481681" y="12800"/>
                  </a:lnTo>
                  <a:lnTo>
                    <a:pt x="10509800" y="47031"/>
                  </a:lnTo>
                  <a:lnTo>
                    <a:pt x="10515599" y="76186"/>
                  </a:lnTo>
                  <a:lnTo>
                    <a:pt x="10515599" y="1279933"/>
                  </a:lnTo>
                  <a:lnTo>
                    <a:pt x="10509612" y="1309589"/>
                  </a:lnTo>
                  <a:lnTo>
                    <a:pt x="10493285" y="1333806"/>
                  </a:lnTo>
                  <a:lnTo>
                    <a:pt x="10469068" y="1350133"/>
                  </a:lnTo>
                  <a:lnTo>
                    <a:pt x="10439413" y="13561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8200" y="3073002"/>
              <a:ext cx="10515600" cy="1356360"/>
            </a:xfrm>
            <a:custGeom>
              <a:avLst/>
              <a:gdLst/>
              <a:ahLst/>
              <a:cxnLst/>
              <a:rect l="l" t="t" r="r" b="b"/>
              <a:pathLst>
                <a:path w="10515600" h="1356360">
                  <a:moveTo>
                    <a:pt x="0" y="76186"/>
                  </a:moveTo>
                  <a:lnTo>
                    <a:pt x="5987" y="46531"/>
                  </a:lnTo>
                  <a:lnTo>
                    <a:pt x="22314" y="22314"/>
                  </a:lnTo>
                  <a:lnTo>
                    <a:pt x="46531" y="5987"/>
                  </a:lnTo>
                  <a:lnTo>
                    <a:pt x="76186" y="0"/>
                  </a:lnTo>
                  <a:lnTo>
                    <a:pt x="10439413" y="0"/>
                  </a:lnTo>
                  <a:lnTo>
                    <a:pt x="10481681" y="12800"/>
                  </a:lnTo>
                  <a:lnTo>
                    <a:pt x="10509800" y="47031"/>
                  </a:lnTo>
                  <a:lnTo>
                    <a:pt x="10515599" y="76186"/>
                  </a:lnTo>
                  <a:lnTo>
                    <a:pt x="10515599" y="1279933"/>
                  </a:lnTo>
                  <a:lnTo>
                    <a:pt x="10509612" y="1309589"/>
                  </a:lnTo>
                  <a:lnTo>
                    <a:pt x="10493285" y="1333806"/>
                  </a:lnTo>
                  <a:lnTo>
                    <a:pt x="10469068" y="1350133"/>
                  </a:lnTo>
                  <a:lnTo>
                    <a:pt x="10439413" y="1356120"/>
                  </a:lnTo>
                  <a:lnTo>
                    <a:pt x="76186" y="1356120"/>
                  </a:lnTo>
                  <a:lnTo>
                    <a:pt x="46531" y="1350133"/>
                  </a:lnTo>
                  <a:lnTo>
                    <a:pt x="22314" y="1333806"/>
                  </a:lnTo>
                  <a:lnTo>
                    <a:pt x="5987" y="1309589"/>
                  </a:lnTo>
                  <a:lnTo>
                    <a:pt x="0" y="1279933"/>
                  </a:lnTo>
                  <a:lnTo>
                    <a:pt x="0" y="76186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063625" y="3292713"/>
            <a:ext cx="6228715" cy="8705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dirty="0">
                <a:solidFill>
                  <a:srgbClr val="0F172A"/>
                </a:solidFill>
                <a:latin typeface="Courier New"/>
                <a:cs typeface="Courier New"/>
              </a:rPr>
              <a:t>Role</a:t>
            </a:r>
            <a:r>
              <a:rPr sz="1100" b="1" spc="35" dirty="0">
                <a:solidFill>
                  <a:srgbClr val="0F172A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0F172A"/>
                </a:solidFill>
                <a:latin typeface="Courier New"/>
                <a:cs typeface="Courier New"/>
              </a:rPr>
              <a:t>Hierarchy:</a:t>
            </a:r>
            <a:endParaRPr sz="1100">
              <a:latin typeface="Courier New"/>
              <a:cs typeface="Courier New"/>
            </a:endParaRPr>
          </a:p>
          <a:p>
            <a:pPr marL="156210" indent="-143510">
              <a:lnSpc>
                <a:spcPct val="100000"/>
              </a:lnSpc>
              <a:spcBef>
                <a:spcPts val="1045"/>
              </a:spcBef>
              <a:buFont typeface="Lucida Sans"/>
              <a:buChar char="•"/>
              <a:tabLst>
                <a:tab pos="156210" algn="l"/>
              </a:tabLst>
            </a:pPr>
            <a:r>
              <a:rPr sz="1350" b="1" spc="-10" dirty="0">
                <a:solidFill>
                  <a:srgbClr val="334155"/>
                </a:solidFill>
                <a:latin typeface="Lucida Sans"/>
                <a:cs typeface="Lucida Sans"/>
              </a:rPr>
              <a:t>Analyst: </a:t>
            </a:r>
            <a:r>
              <a:rPr sz="1350" dirty="0">
                <a:solidFill>
                  <a:srgbClr val="334155"/>
                </a:solidFill>
                <a:latin typeface="Lucida Sans"/>
                <a:cs typeface="Lucida Sans"/>
              </a:rPr>
              <a:t>Read</a:t>
            </a:r>
            <a:r>
              <a:rPr sz="1350" spc="-1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dirty="0">
                <a:solidFill>
                  <a:srgbClr val="334155"/>
                </a:solidFill>
                <a:latin typeface="Lucida Sans"/>
                <a:cs typeface="Lucida Sans"/>
              </a:rPr>
              <a:t>access</a:t>
            </a:r>
            <a:r>
              <a:rPr sz="1350" spc="-1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45" dirty="0">
                <a:solidFill>
                  <a:srgbClr val="334155"/>
                </a:solidFill>
                <a:latin typeface="Lucida Sans"/>
                <a:cs typeface="Lucida Sans"/>
              </a:rPr>
              <a:t>to</a:t>
            </a:r>
            <a:r>
              <a:rPr sz="1350" spc="-1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dirty="0">
                <a:solidFill>
                  <a:srgbClr val="334155"/>
                </a:solidFill>
                <a:latin typeface="Lucida Sans"/>
                <a:cs typeface="Lucida Sans"/>
              </a:rPr>
              <a:t>KPI</a:t>
            </a:r>
            <a:r>
              <a:rPr sz="1350" spc="-1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dirty="0">
                <a:solidFill>
                  <a:srgbClr val="334155"/>
                </a:solidFill>
                <a:latin typeface="Lucida Sans"/>
                <a:cs typeface="Lucida Sans"/>
              </a:rPr>
              <a:t>overviews,</a:t>
            </a:r>
            <a:r>
              <a:rPr sz="1350" spc="-1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dirty="0">
                <a:solidFill>
                  <a:srgbClr val="334155"/>
                </a:solidFill>
                <a:latin typeface="Lucida Sans"/>
                <a:cs typeface="Lucida Sans"/>
              </a:rPr>
              <a:t>sales</a:t>
            </a:r>
            <a:r>
              <a:rPr sz="1350" spc="-1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dirty="0">
                <a:solidFill>
                  <a:srgbClr val="334155"/>
                </a:solidFill>
                <a:latin typeface="Lucida Sans"/>
                <a:cs typeface="Lucida Sans"/>
              </a:rPr>
              <a:t>curves,</a:t>
            </a:r>
            <a:r>
              <a:rPr sz="1350" spc="-1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20" dirty="0">
                <a:solidFill>
                  <a:srgbClr val="334155"/>
                </a:solidFill>
                <a:latin typeface="Lucida Sans"/>
                <a:cs typeface="Lucida Sans"/>
              </a:rPr>
              <a:t>and</a:t>
            </a:r>
            <a:r>
              <a:rPr sz="1350" spc="-1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Lucida Sans"/>
                <a:cs typeface="Lucida Sans"/>
              </a:rPr>
              <a:t>catalog search.</a:t>
            </a:r>
            <a:endParaRPr sz="1350">
              <a:latin typeface="Lucida Sans"/>
              <a:cs typeface="Lucida Sans"/>
            </a:endParaRPr>
          </a:p>
          <a:p>
            <a:pPr marL="156210" indent="-143510">
              <a:lnSpc>
                <a:spcPct val="100000"/>
              </a:lnSpc>
              <a:spcBef>
                <a:spcPts val="1019"/>
              </a:spcBef>
              <a:buFont typeface="Lucida Sans"/>
              <a:buChar char="•"/>
              <a:tabLst>
                <a:tab pos="156210" algn="l"/>
              </a:tabLst>
            </a:pPr>
            <a:r>
              <a:rPr sz="1350" b="1" spc="-35" dirty="0">
                <a:solidFill>
                  <a:srgbClr val="334155"/>
                </a:solidFill>
                <a:latin typeface="Lucida Sans"/>
                <a:cs typeface="Lucida Sans"/>
              </a:rPr>
              <a:t>Admin:</a:t>
            </a:r>
            <a:r>
              <a:rPr sz="1350" b="1" spc="-30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40" dirty="0">
                <a:solidFill>
                  <a:srgbClr val="334155"/>
                </a:solidFill>
                <a:latin typeface="Lucida Sans"/>
                <a:cs typeface="Lucida Sans"/>
              </a:rPr>
              <a:t>Full</a:t>
            </a:r>
            <a:r>
              <a:rPr sz="1350" spc="-2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dirty="0">
                <a:solidFill>
                  <a:srgbClr val="334155"/>
                </a:solidFill>
                <a:latin typeface="Lucida Sans"/>
                <a:cs typeface="Lucida Sans"/>
              </a:rPr>
              <a:t>access</a:t>
            </a:r>
            <a:r>
              <a:rPr sz="1350" spc="-2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40" dirty="0">
                <a:solidFill>
                  <a:srgbClr val="334155"/>
                </a:solidFill>
                <a:latin typeface="Lucida Sans"/>
                <a:cs typeface="Lucida Sans"/>
              </a:rPr>
              <a:t>including</a:t>
            </a:r>
            <a:r>
              <a:rPr sz="1350" spc="-25" dirty="0">
                <a:solidFill>
                  <a:srgbClr val="334155"/>
                </a:solidFill>
                <a:latin typeface="Lucida Sans"/>
                <a:cs typeface="Lucida Sans"/>
              </a:rPr>
              <a:t> pipeline </a:t>
            </a:r>
            <a:r>
              <a:rPr sz="1350" spc="-35" dirty="0">
                <a:solidFill>
                  <a:srgbClr val="334155"/>
                </a:solidFill>
                <a:latin typeface="Lucida Sans"/>
                <a:cs typeface="Lucida Sans"/>
              </a:rPr>
              <a:t>ingestion</a:t>
            </a:r>
            <a:r>
              <a:rPr sz="1350" spc="-2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spc="-20" dirty="0">
                <a:solidFill>
                  <a:srgbClr val="334155"/>
                </a:solidFill>
                <a:latin typeface="Lucida Sans"/>
                <a:cs typeface="Lucida Sans"/>
              </a:rPr>
              <a:t>and</a:t>
            </a:r>
            <a:r>
              <a:rPr sz="1350" spc="-25" dirty="0">
                <a:solidFill>
                  <a:srgbClr val="334155"/>
                </a:solidFill>
                <a:latin typeface="Lucida Sans"/>
                <a:cs typeface="Lucida Sans"/>
              </a:rPr>
              <a:t> </a:t>
            </a:r>
            <a:r>
              <a:rPr sz="1350" dirty="0">
                <a:solidFill>
                  <a:srgbClr val="334155"/>
                </a:solidFill>
                <a:latin typeface="Lucida Sans"/>
                <a:cs typeface="Lucida Sans"/>
              </a:rPr>
              <a:t>user</a:t>
            </a:r>
            <a:r>
              <a:rPr sz="1350" spc="-25" dirty="0">
                <a:solidFill>
                  <a:srgbClr val="334155"/>
                </a:solidFill>
                <a:latin typeface="Lucida Sans"/>
                <a:cs typeface="Lucida Sans"/>
              </a:rPr>
              <a:t> approval </a:t>
            </a:r>
            <a:r>
              <a:rPr sz="1350" spc="-10" dirty="0">
                <a:solidFill>
                  <a:srgbClr val="334155"/>
                </a:solidFill>
                <a:latin typeface="Lucida Sans"/>
                <a:cs typeface="Lucida Sans"/>
              </a:rPr>
              <a:t>controls.</a:t>
            </a:r>
            <a:endParaRPr sz="1350">
              <a:latin typeface="Lucida Sans"/>
              <a:cs typeface="Lucida San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38200" y="4619625"/>
            <a:ext cx="10515600" cy="880110"/>
            <a:chOff x="838200" y="4619625"/>
            <a:chExt cx="10515600" cy="880110"/>
          </a:xfrm>
        </p:grpSpPr>
        <p:sp>
          <p:nvSpPr>
            <p:cNvPr id="10" name="object 10"/>
            <p:cNvSpPr/>
            <p:nvPr/>
          </p:nvSpPr>
          <p:spPr>
            <a:xfrm>
              <a:off x="838200" y="4619625"/>
              <a:ext cx="10515600" cy="880110"/>
            </a:xfrm>
            <a:custGeom>
              <a:avLst/>
              <a:gdLst/>
              <a:ahLst/>
              <a:cxnLst/>
              <a:rect l="l" t="t" r="r" b="b"/>
              <a:pathLst>
                <a:path w="10515600" h="880110">
                  <a:moveTo>
                    <a:pt x="10439402" y="879870"/>
                  </a:moveTo>
                  <a:lnTo>
                    <a:pt x="76196" y="879870"/>
                  </a:lnTo>
                  <a:lnTo>
                    <a:pt x="46537" y="873883"/>
                  </a:lnTo>
                  <a:lnTo>
                    <a:pt x="22317" y="857553"/>
                  </a:lnTo>
                  <a:lnTo>
                    <a:pt x="5987" y="833333"/>
                  </a:lnTo>
                  <a:lnTo>
                    <a:pt x="0" y="803674"/>
                  </a:lnTo>
                  <a:lnTo>
                    <a:pt x="0" y="76196"/>
                  </a:lnTo>
                  <a:lnTo>
                    <a:pt x="5987" y="46537"/>
                  </a:lnTo>
                  <a:lnTo>
                    <a:pt x="22317" y="22317"/>
                  </a:lnTo>
                  <a:lnTo>
                    <a:pt x="46537" y="5987"/>
                  </a:lnTo>
                  <a:lnTo>
                    <a:pt x="76196" y="0"/>
                  </a:lnTo>
                  <a:lnTo>
                    <a:pt x="10439402" y="0"/>
                  </a:lnTo>
                  <a:lnTo>
                    <a:pt x="10481677" y="12801"/>
                  </a:lnTo>
                  <a:lnTo>
                    <a:pt x="10509799" y="47037"/>
                  </a:lnTo>
                  <a:lnTo>
                    <a:pt x="10515599" y="76196"/>
                  </a:lnTo>
                  <a:lnTo>
                    <a:pt x="10515599" y="803674"/>
                  </a:lnTo>
                  <a:lnTo>
                    <a:pt x="10509611" y="833333"/>
                  </a:lnTo>
                  <a:lnTo>
                    <a:pt x="10493282" y="857553"/>
                  </a:lnTo>
                  <a:lnTo>
                    <a:pt x="10469062" y="873883"/>
                  </a:lnTo>
                  <a:lnTo>
                    <a:pt x="10439402" y="8798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38200" y="4619637"/>
              <a:ext cx="10515600" cy="880110"/>
            </a:xfrm>
            <a:custGeom>
              <a:avLst/>
              <a:gdLst/>
              <a:ahLst/>
              <a:cxnLst/>
              <a:rect l="l" t="t" r="r" b="b"/>
              <a:pathLst>
                <a:path w="10515600" h="880110">
                  <a:moveTo>
                    <a:pt x="10515600" y="870343"/>
                  </a:moveTo>
                  <a:lnTo>
                    <a:pt x="0" y="870343"/>
                  </a:lnTo>
                  <a:lnTo>
                    <a:pt x="0" y="879868"/>
                  </a:lnTo>
                  <a:lnTo>
                    <a:pt x="10515600" y="879868"/>
                  </a:lnTo>
                  <a:lnTo>
                    <a:pt x="10515600" y="870343"/>
                  </a:lnTo>
                  <a:close/>
                </a:path>
                <a:path w="10515600" h="880110">
                  <a:moveTo>
                    <a:pt x="105156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0515600" y="9525"/>
                  </a:lnTo>
                  <a:lnTo>
                    <a:pt x="10515600" y="0"/>
                  </a:lnTo>
                  <a:close/>
                </a:path>
              </a:pathLst>
            </a:custGeom>
            <a:solidFill>
              <a:srgbClr val="E1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38200" y="4619625"/>
              <a:ext cx="38100" cy="880110"/>
            </a:xfrm>
            <a:custGeom>
              <a:avLst/>
              <a:gdLst/>
              <a:ahLst/>
              <a:cxnLst/>
              <a:rect l="l" t="t" r="r" b="b"/>
              <a:pathLst>
                <a:path w="38100" h="880110">
                  <a:moveTo>
                    <a:pt x="38099" y="879870"/>
                  </a:moveTo>
                  <a:lnTo>
                    <a:pt x="0" y="879870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879870"/>
                  </a:lnTo>
                  <a:close/>
                </a:path>
              </a:pathLst>
            </a:custGeom>
            <a:solidFill>
              <a:srgbClr val="0F17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344275" y="4619625"/>
              <a:ext cx="9525" cy="880110"/>
            </a:xfrm>
            <a:custGeom>
              <a:avLst/>
              <a:gdLst/>
              <a:ahLst/>
              <a:cxnLst/>
              <a:rect l="l" t="t" r="r" b="b"/>
              <a:pathLst>
                <a:path w="9525" h="880110">
                  <a:moveTo>
                    <a:pt x="9524" y="879870"/>
                  </a:moveTo>
                  <a:lnTo>
                    <a:pt x="0" y="879870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879870"/>
                  </a:lnTo>
                  <a:close/>
                </a:path>
              </a:pathLst>
            </a:custGeom>
            <a:solidFill>
              <a:srgbClr val="E1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00700" y="4810125"/>
              <a:ext cx="1895475" cy="257175"/>
            </a:xfrm>
            <a:custGeom>
              <a:avLst/>
              <a:gdLst/>
              <a:ahLst/>
              <a:cxnLst/>
              <a:rect l="l" t="t" r="r" b="b"/>
              <a:pathLst>
                <a:path w="1895475" h="257175">
                  <a:moveTo>
                    <a:pt x="1857377" y="257174"/>
                  </a:moveTo>
                  <a:lnTo>
                    <a:pt x="38097" y="257174"/>
                  </a:lnTo>
                  <a:lnTo>
                    <a:pt x="23268" y="254181"/>
                  </a:lnTo>
                  <a:lnTo>
                    <a:pt x="11158" y="246016"/>
                  </a:lnTo>
                  <a:lnTo>
                    <a:pt x="2993" y="233906"/>
                  </a:lnTo>
                  <a:lnTo>
                    <a:pt x="0" y="219076"/>
                  </a:lnTo>
                  <a:lnTo>
                    <a:pt x="0" y="38097"/>
                  </a:lnTo>
                  <a:lnTo>
                    <a:pt x="2993" y="23268"/>
                  </a:lnTo>
                  <a:lnTo>
                    <a:pt x="11158" y="11158"/>
                  </a:lnTo>
                  <a:lnTo>
                    <a:pt x="23268" y="2993"/>
                  </a:lnTo>
                  <a:lnTo>
                    <a:pt x="38097" y="0"/>
                  </a:lnTo>
                  <a:lnTo>
                    <a:pt x="1857377" y="0"/>
                  </a:lnTo>
                  <a:lnTo>
                    <a:pt x="1892574" y="23518"/>
                  </a:lnTo>
                  <a:lnTo>
                    <a:pt x="1895474" y="38097"/>
                  </a:lnTo>
                  <a:lnTo>
                    <a:pt x="1895474" y="219076"/>
                  </a:lnTo>
                  <a:lnTo>
                    <a:pt x="1892481" y="233906"/>
                  </a:lnTo>
                  <a:lnTo>
                    <a:pt x="1884316" y="246016"/>
                  </a:lnTo>
                  <a:lnTo>
                    <a:pt x="1872206" y="254181"/>
                  </a:lnTo>
                  <a:lnTo>
                    <a:pt x="1857377" y="257174"/>
                  </a:lnTo>
                  <a:close/>
                </a:path>
              </a:pathLst>
            </a:custGeom>
            <a:solidFill>
              <a:srgbClr val="F1F4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76300" y="4736998"/>
            <a:ext cx="10467975" cy="54220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228600" marR="663575">
              <a:lnSpc>
                <a:spcPct val="135300"/>
              </a:lnSpc>
              <a:spcBef>
                <a:spcPts val="100"/>
              </a:spcBef>
            </a:pPr>
            <a:r>
              <a:rPr sz="2000" b="1" spc="-82" baseline="2057" dirty="0">
                <a:solidFill>
                  <a:srgbClr val="1E293B"/>
                </a:solidFill>
                <a:latin typeface="Lucida Sans"/>
                <a:cs typeface="Lucida Sans"/>
              </a:rPr>
              <a:t>Approval</a:t>
            </a:r>
            <a:r>
              <a:rPr sz="2000" b="1" spc="-135" baseline="2057" dirty="0">
                <a:solidFill>
                  <a:srgbClr val="1E293B"/>
                </a:solidFill>
                <a:latin typeface="Lucida Sans"/>
                <a:cs typeface="Lucida Sans"/>
              </a:rPr>
              <a:t> </a:t>
            </a:r>
            <a:r>
              <a:rPr sz="2000" b="1" spc="-30" baseline="2057" dirty="0">
                <a:solidFill>
                  <a:srgbClr val="1E293B"/>
                </a:solidFill>
                <a:latin typeface="Lucida Sans"/>
                <a:cs typeface="Lucida Sans"/>
              </a:rPr>
              <a:t>Workflow:</a:t>
            </a:r>
            <a:r>
              <a:rPr sz="2000" b="1" spc="-15" baseline="2057" dirty="0">
                <a:solidFill>
                  <a:srgbClr val="1E293B"/>
                </a:solidFill>
                <a:latin typeface="Lucida Sans"/>
                <a:cs typeface="Lucida Sans"/>
              </a:rPr>
              <a:t> </a:t>
            </a:r>
            <a:r>
              <a:rPr sz="2000" baseline="2057" dirty="0">
                <a:solidFill>
                  <a:srgbClr val="1E293B"/>
                </a:solidFill>
                <a:latin typeface="Lucida Sans"/>
                <a:cs typeface="Lucida Sans"/>
              </a:rPr>
              <a:t>Newly</a:t>
            </a:r>
            <a:r>
              <a:rPr sz="2000" spc="-30" baseline="2057" dirty="0">
                <a:solidFill>
                  <a:srgbClr val="1E293B"/>
                </a:solidFill>
                <a:latin typeface="Lucida Sans"/>
                <a:cs typeface="Lucida Sans"/>
              </a:rPr>
              <a:t> </a:t>
            </a:r>
            <a:r>
              <a:rPr sz="2000" spc="-37" baseline="2057" dirty="0">
                <a:solidFill>
                  <a:srgbClr val="1E293B"/>
                </a:solidFill>
                <a:latin typeface="Lucida Sans"/>
                <a:cs typeface="Lucida Sans"/>
              </a:rPr>
              <a:t>registered</a:t>
            </a:r>
            <a:r>
              <a:rPr lang="en-US" sz="2000" spc="-37" baseline="2057" dirty="0">
                <a:solidFill>
                  <a:srgbClr val="1E293B"/>
                </a:solidFill>
                <a:latin typeface="Lucida Sans"/>
                <a:cs typeface="Lucida Sans"/>
              </a:rPr>
              <a:t> users</a:t>
            </a:r>
            <a:r>
              <a:rPr sz="2000" spc="-22" baseline="2057" dirty="0">
                <a:solidFill>
                  <a:srgbClr val="1E293B"/>
                </a:solidFill>
                <a:latin typeface="Lucida Sans"/>
                <a:cs typeface="Lucida Sans"/>
              </a:rPr>
              <a:t> </a:t>
            </a:r>
            <a:r>
              <a:rPr sz="2000" spc="-37" baseline="2057" dirty="0">
                <a:solidFill>
                  <a:srgbClr val="1E293B"/>
                </a:solidFill>
                <a:latin typeface="Lucida Sans"/>
                <a:cs typeface="Lucida Sans"/>
              </a:rPr>
              <a:t>default</a:t>
            </a:r>
            <a:r>
              <a:rPr sz="2000" spc="-30" baseline="2057" dirty="0">
                <a:solidFill>
                  <a:srgbClr val="1E293B"/>
                </a:solidFill>
                <a:latin typeface="Lucida Sans"/>
                <a:cs typeface="Lucida Sans"/>
              </a:rPr>
              <a:t> </a:t>
            </a:r>
            <a:r>
              <a:rPr sz="2000" spc="-67" baseline="2057" dirty="0">
                <a:solidFill>
                  <a:srgbClr val="1E293B"/>
                </a:solidFill>
                <a:latin typeface="Lucida Sans"/>
                <a:cs typeface="Lucida Sans"/>
              </a:rPr>
              <a:t>to</a:t>
            </a:r>
            <a:r>
              <a:rPr sz="2000" spc="-22" baseline="2057" dirty="0">
                <a:solidFill>
                  <a:srgbClr val="1E293B"/>
                </a:solidFill>
                <a:latin typeface="Lucida Sans"/>
                <a:cs typeface="Lucida Sans"/>
              </a:rPr>
              <a:t> </a:t>
            </a:r>
            <a:r>
              <a:rPr sz="2000" baseline="2057" dirty="0">
                <a:solidFill>
                  <a:srgbClr val="1E293B"/>
                </a:solidFill>
                <a:latin typeface="Lucida Sans"/>
                <a:cs typeface="Lucida Sans"/>
              </a:rPr>
              <a:t>.</a:t>
            </a:r>
            <a:r>
              <a:rPr lang="en-US" sz="2000" spc="-22" baseline="2057" dirty="0">
                <a:solidFill>
                  <a:srgbClr val="1E293B"/>
                </a:solidFill>
                <a:latin typeface="Lucida Sans"/>
                <a:cs typeface="Lucida Sans"/>
              </a:rPr>
              <a:t> Account remains </a:t>
            </a:r>
            <a:r>
              <a:rPr lang="en-US" sz="2000" spc="-30" baseline="2057" dirty="0">
                <a:solidFill>
                  <a:srgbClr val="1E293B"/>
                </a:solidFill>
                <a:latin typeface="Lucida Sans"/>
                <a:cs typeface="Lucida Sans"/>
              </a:rPr>
              <a:t>locked</a:t>
            </a:r>
            <a:r>
              <a:rPr sz="2000" spc="-22" baseline="2057" dirty="0">
                <a:solidFill>
                  <a:srgbClr val="1E293B"/>
                </a:solidFill>
                <a:latin typeface="Lucida Sans"/>
                <a:cs typeface="Lucida Sans"/>
              </a:rPr>
              <a:t> </a:t>
            </a:r>
            <a:r>
              <a:rPr sz="2000" spc="-97" baseline="2057" dirty="0">
                <a:solidFill>
                  <a:srgbClr val="1E293B"/>
                </a:solidFill>
                <a:latin typeface="Lucida Sans"/>
                <a:cs typeface="Lucida Sans"/>
              </a:rPr>
              <a:t>until</a:t>
            </a:r>
            <a:r>
              <a:rPr sz="2000" spc="-22" baseline="2057" dirty="0">
                <a:solidFill>
                  <a:srgbClr val="1E293B"/>
                </a:solidFill>
                <a:latin typeface="Lucida Sans"/>
                <a:cs typeface="Lucida Sans"/>
              </a:rPr>
              <a:t> </a:t>
            </a:r>
            <a:r>
              <a:rPr sz="2000" spc="-52" baseline="2057" dirty="0">
                <a:solidFill>
                  <a:srgbClr val="1E293B"/>
                </a:solidFill>
                <a:latin typeface="Lucida Sans"/>
                <a:cs typeface="Lucida Sans"/>
              </a:rPr>
              <a:t>explicitly</a:t>
            </a:r>
            <a:r>
              <a:rPr sz="2000" spc="-30" baseline="2057" dirty="0">
                <a:solidFill>
                  <a:srgbClr val="1E293B"/>
                </a:solidFill>
                <a:latin typeface="Lucida Sans"/>
                <a:cs typeface="Lucida Sans"/>
              </a:rPr>
              <a:t> approved</a:t>
            </a:r>
            <a:r>
              <a:rPr sz="2000" spc="-22" baseline="2057" dirty="0">
                <a:solidFill>
                  <a:srgbClr val="1E293B"/>
                </a:solidFill>
                <a:latin typeface="Lucida Sans"/>
                <a:cs typeface="Lucida Sans"/>
              </a:rPr>
              <a:t> </a:t>
            </a:r>
            <a:r>
              <a:rPr sz="2000" baseline="2057" dirty="0">
                <a:solidFill>
                  <a:srgbClr val="1E293B"/>
                </a:solidFill>
                <a:latin typeface="Lucida Sans"/>
                <a:cs typeface="Lucida Sans"/>
              </a:rPr>
              <a:t>by</a:t>
            </a:r>
            <a:r>
              <a:rPr sz="2000" spc="-22" baseline="2057" dirty="0">
                <a:solidFill>
                  <a:srgbClr val="1E293B"/>
                </a:solidFill>
                <a:latin typeface="Lucida Sans"/>
                <a:cs typeface="Lucida Sans"/>
              </a:rPr>
              <a:t> </a:t>
            </a:r>
            <a:r>
              <a:rPr sz="2000" spc="-37" baseline="2057" dirty="0">
                <a:solidFill>
                  <a:srgbClr val="1E293B"/>
                </a:solidFill>
                <a:latin typeface="Lucida Sans"/>
                <a:cs typeface="Lucida Sans"/>
              </a:rPr>
              <a:t>an </a:t>
            </a:r>
            <a:r>
              <a:rPr sz="1350" spc="-45" dirty="0">
                <a:solidFill>
                  <a:srgbClr val="1E293B"/>
                </a:solidFill>
                <a:latin typeface="Lucida Sans"/>
                <a:cs typeface="Lucida Sans"/>
              </a:rPr>
              <a:t>existing</a:t>
            </a:r>
            <a:r>
              <a:rPr sz="1350" spc="-35" dirty="0">
                <a:solidFill>
                  <a:srgbClr val="1E293B"/>
                </a:solidFill>
                <a:latin typeface="Lucida Sans"/>
                <a:cs typeface="Lucida Sans"/>
              </a:rPr>
              <a:t> </a:t>
            </a:r>
            <a:r>
              <a:rPr sz="1350" spc="-10" dirty="0">
                <a:solidFill>
                  <a:srgbClr val="1E293B"/>
                </a:solidFill>
                <a:latin typeface="Lucida Sans"/>
                <a:cs typeface="Lucida Sans"/>
              </a:rPr>
              <a:t>admin.</a:t>
            </a:r>
            <a:endParaRPr sz="13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825500" y="515365"/>
            <a:ext cx="985519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10" dirty="0">
                <a:solidFill>
                  <a:srgbClr val="64738B"/>
                </a:solidFill>
                <a:latin typeface="Courier New"/>
                <a:cs typeface="Courier New"/>
              </a:rPr>
              <a:t>VERIFICATION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825500" y="756158"/>
            <a:ext cx="4716145" cy="39116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Incremental</a:t>
            </a:r>
            <a:r>
              <a:rPr spc="-155" dirty="0"/>
              <a:t> </a:t>
            </a:r>
            <a:r>
              <a:rPr spc="-90"/>
              <a:t>Ingestion</a:t>
            </a:r>
            <a:r>
              <a:rPr spc="-155" dirty="0"/>
              <a:t> </a:t>
            </a:r>
            <a:endParaRPr lang="en-US" spc="-60" dirty="0"/>
          </a:p>
        </p:txBody>
      </p:sp>
      <p:grpSp>
        <p:nvGrpSpPr>
          <p:cNvPr id="2" name="object 2"/>
          <p:cNvGrpSpPr/>
          <p:nvPr/>
        </p:nvGrpSpPr>
        <p:grpSpPr>
          <a:xfrm>
            <a:off x="833437" y="2516683"/>
            <a:ext cx="10525125" cy="828675"/>
            <a:chOff x="833437" y="2516683"/>
            <a:chExt cx="10525125" cy="828675"/>
          </a:xfrm>
        </p:grpSpPr>
        <p:sp>
          <p:nvSpPr>
            <p:cNvPr id="3" name="object 3"/>
            <p:cNvSpPr/>
            <p:nvPr/>
          </p:nvSpPr>
          <p:spPr>
            <a:xfrm>
              <a:off x="838200" y="2521445"/>
              <a:ext cx="10515600" cy="819150"/>
            </a:xfrm>
            <a:custGeom>
              <a:avLst/>
              <a:gdLst/>
              <a:ahLst/>
              <a:cxnLst/>
              <a:rect l="l" t="t" r="r" b="b"/>
              <a:pathLst>
                <a:path w="10515600" h="819150">
                  <a:moveTo>
                    <a:pt x="10439402" y="819149"/>
                  </a:moveTo>
                  <a:lnTo>
                    <a:pt x="76197" y="819149"/>
                  </a:lnTo>
                  <a:lnTo>
                    <a:pt x="46537" y="813162"/>
                  </a:lnTo>
                  <a:lnTo>
                    <a:pt x="22317" y="796832"/>
                  </a:lnTo>
                  <a:lnTo>
                    <a:pt x="5987" y="772612"/>
                  </a:lnTo>
                  <a:lnTo>
                    <a:pt x="0" y="742952"/>
                  </a:lnTo>
                  <a:lnTo>
                    <a:pt x="0" y="76197"/>
                  </a:lnTo>
                  <a:lnTo>
                    <a:pt x="5987" y="46537"/>
                  </a:lnTo>
                  <a:lnTo>
                    <a:pt x="22317" y="22317"/>
                  </a:lnTo>
                  <a:lnTo>
                    <a:pt x="46537" y="5987"/>
                  </a:lnTo>
                  <a:lnTo>
                    <a:pt x="76197" y="0"/>
                  </a:lnTo>
                  <a:lnTo>
                    <a:pt x="10439402" y="0"/>
                  </a:lnTo>
                  <a:lnTo>
                    <a:pt x="10481676" y="12802"/>
                  </a:lnTo>
                  <a:lnTo>
                    <a:pt x="10509799" y="47037"/>
                  </a:lnTo>
                  <a:lnTo>
                    <a:pt x="10515599" y="76197"/>
                  </a:lnTo>
                  <a:lnTo>
                    <a:pt x="10515599" y="742952"/>
                  </a:lnTo>
                  <a:lnTo>
                    <a:pt x="10509611" y="772612"/>
                  </a:lnTo>
                  <a:lnTo>
                    <a:pt x="10493282" y="796832"/>
                  </a:lnTo>
                  <a:lnTo>
                    <a:pt x="10469061" y="813162"/>
                  </a:lnTo>
                  <a:lnTo>
                    <a:pt x="10439402" y="81914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38200" y="2521445"/>
              <a:ext cx="10515600" cy="819150"/>
            </a:xfrm>
            <a:custGeom>
              <a:avLst/>
              <a:gdLst/>
              <a:ahLst/>
              <a:cxnLst/>
              <a:rect l="l" t="t" r="r" b="b"/>
              <a:pathLst>
                <a:path w="10515600" h="819150">
                  <a:moveTo>
                    <a:pt x="0" y="76197"/>
                  </a:moveTo>
                  <a:lnTo>
                    <a:pt x="5987" y="46537"/>
                  </a:lnTo>
                  <a:lnTo>
                    <a:pt x="22317" y="22317"/>
                  </a:lnTo>
                  <a:lnTo>
                    <a:pt x="46537" y="5987"/>
                  </a:lnTo>
                  <a:lnTo>
                    <a:pt x="76197" y="0"/>
                  </a:lnTo>
                  <a:lnTo>
                    <a:pt x="10439402" y="0"/>
                  </a:lnTo>
                  <a:lnTo>
                    <a:pt x="10481676" y="12802"/>
                  </a:lnTo>
                  <a:lnTo>
                    <a:pt x="10509799" y="47037"/>
                  </a:lnTo>
                  <a:lnTo>
                    <a:pt x="10515599" y="76197"/>
                  </a:lnTo>
                  <a:lnTo>
                    <a:pt x="10515599" y="742952"/>
                  </a:lnTo>
                  <a:lnTo>
                    <a:pt x="10509611" y="772612"/>
                  </a:lnTo>
                  <a:lnTo>
                    <a:pt x="10493282" y="796832"/>
                  </a:lnTo>
                  <a:lnTo>
                    <a:pt x="10469061" y="813162"/>
                  </a:lnTo>
                  <a:lnTo>
                    <a:pt x="10439402" y="819149"/>
                  </a:lnTo>
                  <a:lnTo>
                    <a:pt x="76197" y="819149"/>
                  </a:lnTo>
                  <a:lnTo>
                    <a:pt x="46537" y="813162"/>
                  </a:lnTo>
                  <a:lnTo>
                    <a:pt x="22317" y="796832"/>
                  </a:lnTo>
                  <a:lnTo>
                    <a:pt x="5987" y="772612"/>
                  </a:lnTo>
                  <a:lnTo>
                    <a:pt x="0" y="742952"/>
                  </a:lnTo>
                  <a:lnTo>
                    <a:pt x="0" y="76197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30543" y="2818454"/>
            <a:ext cx="8726543" cy="22057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1350" spc="-10" dirty="0">
                <a:solidFill>
                  <a:srgbClr val="0F172A"/>
                </a:solidFill>
                <a:latin typeface="Lucida Sans"/>
                <a:cs typeface="Lucida Sans"/>
              </a:rPr>
              <a:t>Runtime Ingestion: Allow admin to direc</a:t>
            </a:r>
            <a:r>
              <a:rPr lang="en-US" sz="1350" spc="-10">
                <a:solidFill>
                  <a:srgbClr val="0F172A"/>
                </a:solidFill>
                <a:latin typeface="Lucida Sans"/>
                <a:cs typeface="Lucida Sans"/>
              </a:rPr>
              <a:t>tly insert a csv or excel data from the dashboard</a:t>
            </a:r>
            <a:endParaRPr sz="1350" spc="-10" dirty="0">
              <a:solidFill>
                <a:srgbClr val="0F172A"/>
              </a:solidFill>
              <a:latin typeface="Lucida Sans"/>
              <a:cs typeface="Lucida San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33437" y="3526333"/>
            <a:ext cx="10740277" cy="1138629"/>
            <a:chOff x="833437" y="3526333"/>
            <a:chExt cx="10525125" cy="1739264"/>
          </a:xfrm>
        </p:grpSpPr>
        <p:sp>
          <p:nvSpPr>
            <p:cNvPr id="6" name="object 6"/>
            <p:cNvSpPr/>
            <p:nvPr/>
          </p:nvSpPr>
          <p:spPr>
            <a:xfrm>
              <a:off x="838200" y="3531096"/>
              <a:ext cx="10515600" cy="1729739"/>
            </a:xfrm>
            <a:custGeom>
              <a:avLst/>
              <a:gdLst/>
              <a:ahLst/>
              <a:cxnLst/>
              <a:rect l="l" t="t" r="r" b="b"/>
              <a:pathLst>
                <a:path w="10515600" h="1729739">
                  <a:moveTo>
                    <a:pt x="10439402" y="1729381"/>
                  </a:moveTo>
                  <a:lnTo>
                    <a:pt x="76196" y="1729381"/>
                  </a:lnTo>
                  <a:lnTo>
                    <a:pt x="46537" y="1723394"/>
                  </a:lnTo>
                  <a:lnTo>
                    <a:pt x="22317" y="1707064"/>
                  </a:lnTo>
                  <a:lnTo>
                    <a:pt x="5987" y="1682844"/>
                  </a:lnTo>
                  <a:lnTo>
                    <a:pt x="0" y="1653185"/>
                  </a:lnTo>
                  <a:lnTo>
                    <a:pt x="0" y="76196"/>
                  </a:lnTo>
                  <a:lnTo>
                    <a:pt x="5987" y="46537"/>
                  </a:lnTo>
                  <a:lnTo>
                    <a:pt x="22317" y="22317"/>
                  </a:lnTo>
                  <a:lnTo>
                    <a:pt x="46537" y="5987"/>
                  </a:lnTo>
                  <a:lnTo>
                    <a:pt x="76196" y="0"/>
                  </a:lnTo>
                  <a:lnTo>
                    <a:pt x="10439402" y="0"/>
                  </a:lnTo>
                  <a:lnTo>
                    <a:pt x="10481677" y="12801"/>
                  </a:lnTo>
                  <a:lnTo>
                    <a:pt x="10509799" y="47037"/>
                  </a:lnTo>
                  <a:lnTo>
                    <a:pt x="10515599" y="76196"/>
                  </a:lnTo>
                  <a:lnTo>
                    <a:pt x="10515599" y="1653185"/>
                  </a:lnTo>
                  <a:lnTo>
                    <a:pt x="10509612" y="1682844"/>
                  </a:lnTo>
                  <a:lnTo>
                    <a:pt x="10493282" y="1707064"/>
                  </a:lnTo>
                  <a:lnTo>
                    <a:pt x="10469062" y="1723394"/>
                  </a:lnTo>
                  <a:lnTo>
                    <a:pt x="10439402" y="1729381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 anchor="t"/>
            <a:lstStyle/>
            <a:p>
              <a:r>
                <a:rPr lang="en-US" b="1"/>
                <a:t>ETL pipeline: </a:t>
              </a:r>
              <a:r>
                <a:rPr lang="en-US" dirty="0"/>
                <a:t>The pipeline extract the data from the dashboard and cleans the data.</a:t>
              </a:r>
            </a:p>
            <a:p>
              <a:r>
                <a:rPr lang="en-US" b="1" dirty="0"/>
                <a:t>Audit logs:   </a:t>
              </a:r>
              <a:r>
                <a:rPr lang="en-US">
                  <a:latin typeface="Calibri"/>
                  <a:ea typeface="Calibri"/>
                  <a:cs typeface="Calibri"/>
                </a:rPr>
                <a:t>The audit logs shows the details about the data that is inserted</a:t>
              </a:r>
            </a:p>
            <a:p>
              <a:r>
                <a:rPr lang="en-US" b="1" dirty="0">
                  <a:latin typeface="Calibri"/>
                  <a:ea typeface="Calibri"/>
                  <a:cs typeface="Calibri"/>
                </a:rPr>
                <a:t>Visualization: </a:t>
              </a:r>
              <a:r>
                <a:rPr lang="en-US">
                  <a:latin typeface="Calibri"/>
                  <a:ea typeface="Calibri"/>
                  <a:cs typeface="Calibri"/>
                </a:rPr>
                <a:t>The cleaned data is added into the charts.</a:t>
              </a:r>
            </a:p>
            <a:p>
              <a:r>
                <a:rPr lang="en-US" b="1" dirty="0">
                  <a:latin typeface="Calibri"/>
                  <a:ea typeface="Calibri"/>
                  <a:cs typeface="Calibri"/>
                </a:rPr>
                <a:t>Cleaning:</a:t>
              </a:r>
              <a:r>
                <a:rPr lang="en-US">
                  <a:latin typeface="Calibri"/>
                  <a:ea typeface="Calibri"/>
                  <a:cs typeface="Calibri"/>
                </a:rPr>
                <a:t> Created a script to delete the newly inserted data inside the database.</a:t>
              </a:r>
              <a:endParaRPr lang="en-US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838200" y="3531096"/>
              <a:ext cx="10515600" cy="1729739"/>
            </a:xfrm>
            <a:custGeom>
              <a:avLst/>
              <a:gdLst/>
              <a:ahLst/>
              <a:cxnLst/>
              <a:rect l="l" t="t" r="r" b="b"/>
              <a:pathLst>
                <a:path w="10515600" h="1729739">
                  <a:moveTo>
                    <a:pt x="0" y="76196"/>
                  </a:moveTo>
                  <a:lnTo>
                    <a:pt x="5987" y="46537"/>
                  </a:lnTo>
                  <a:lnTo>
                    <a:pt x="22317" y="22317"/>
                  </a:lnTo>
                  <a:lnTo>
                    <a:pt x="46537" y="5987"/>
                  </a:lnTo>
                  <a:lnTo>
                    <a:pt x="76196" y="0"/>
                  </a:lnTo>
                  <a:lnTo>
                    <a:pt x="10439402" y="0"/>
                  </a:lnTo>
                  <a:lnTo>
                    <a:pt x="10481677" y="12801"/>
                  </a:lnTo>
                  <a:lnTo>
                    <a:pt x="10509799" y="47037"/>
                  </a:lnTo>
                  <a:lnTo>
                    <a:pt x="10515599" y="76196"/>
                  </a:lnTo>
                  <a:lnTo>
                    <a:pt x="10515599" y="1653185"/>
                  </a:lnTo>
                  <a:lnTo>
                    <a:pt x="10509612" y="1682844"/>
                  </a:lnTo>
                  <a:lnTo>
                    <a:pt x="10493282" y="1707064"/>
                  </a:lnTo>
                  <a:lnTo>
                    <a:pt x="10469062" y="1723394"/>
                  </a:lnTo>
                  <a:lnTo>
                    <a:pt x="10439402" y="1729381"/>
                  </a:lnTo>
                  <a:lnTo>
                    <a:pt x="76196" y="1729381"/>
                  </a:lnTo>
                  <a:lnTo>
                    <a:pt x="46537" y="1723394"/>
                  </a:lnTo>
                  <a:lnTo>
                    <a:pt x="22317" y="1707064"/>
                  </a:lnTo>
                  <a:lnTo>
                    <a:pt x="5987" y="1682844"/>
                  </a:lnTo>
                  <a:lnTo>
                    <a:pt x="0" y="1653185"/>
                  </a:lnTo>
                  <a:lnTo>
                    <a:pt x="0" y="76196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25500" y="1463102"/>
            <a:ext cx="122555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94A3B8"/>
                </a:solidFill>
                <a:latin typeface="Courier New"/>
                <a:cs typeface="Courier New"/>
              </a:rPr>
              <a:t>PROJECT</a:t>
            </a:r>
            <a:r>
              <a:rPr sz="1050" b="1" spc="-5" dirty="0">
                <a:solidFill>
                  <a:srgbClr val="94A3B8"/>
                </a:solidFill>
                <a:latin typeface="Courier New"/>
                <a:cs typeface="Courier New"/>
              </a:rPr>
              <a:t> </a:t>
            </a:r>
            <a:r>
              <a:rPr sz="1050" b="1" spc="-10" dirty="0">
                <a:solidFill>
                  <a:srgbClr val="94A3B8"/>
                </a:solidFill>
                <a:latin typeface="Courier New"/>
                <a:cs typeface="Courier New"/>
              </a:rPr>
              <a:t>SUMMARY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825500" y="1777046"/>
            <a:ext cx="46297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35" dirty="0">
                <a:solidFill>
                  <a:srgbClr val="F7FAFC"/>
                </a:solidFill>
              </a:rPr>
              <a:t>Key</a:t>
            </a:r>
            <a:r>
              <a:rPr sz="3000" spc="-225" dirty="0">
                <a:solidFill>
                  <a:srgbClr val="F7FAFC"/>
                </a:solidFill>
              </a:rPr>
              <a:t> </a:t>
            </a:r>
            <a:r>
              <a:rPr sz="3000" spc="-70" dirty="0">
                <a:solidFill>
                  <a:srgbClr val="F7FAFC"/>
                </a:solidFill>
              </a:rPr>
              <a:t>Technical</a:t>
            </a:r>
            <a:r>
              <a:rPr sz="3000" spc="-225" dirty="0">
                <a:solidFill>
                  <a:srgbClr val="F7FAFC"/>
                </a:solidFill>
              </a:rPr>
              <a:t> </a:t>
            </a:r>
            <a:r>
              <a:rPr sz="3000" spc="-50" dirty="0">
                <a:solidFill>
                  <a:srgbClr val="F7FAFC"/>
                </a:solidFill>
              </a:rPr>
              <a:t>Outcomes</a:t>
            </a:r>
            <a:endParaRPr sz="3000"/>
          </a:p>
        </p:txBody>
      </p:sp>
      <p:grpSp>
        <p:nvGrpSpPr>
          <p:cNvPr id="3" name="object 3"/>
          <p:cNvGrpSpPr/>
          <p:nvPr/>
        </p:nvGrpSpPr>
        <p:grpSpPr>
          <a:xfrm>
            <a:off x="833437" y="2609849"/>
            <a:ext cx="9915525" cy="571500"/>
            <a:chOff x="833437" y="2609849"/>
            <a:chExt cx="9915525" cy="571500"/>
          </a:xfrm>
        </p:grpSpPr>
        <p:sp>
          <p:nvSpPr>
            <p:cNvPr id="4" name="object 4"/>
            <p:cNvSpPr/>
            <p:nvPr/>
          </p:nvSpPr>
          <p:spPr>
            <a:xfrm>
              <a:off x="838200" y="2614611"/>
              <a:ext cx="9906000" cy="561975"/>
            </a:xfrm>
            <a:custGeom>
              <a:avLst/>
              <a:gdLst/>
              <a:ahLst/>
              <a:cxnLst/>
              <a:rect l="l" t="t" r="r" b="b"/>
              <a:pathLst>
                <a:path w="9906000" h="561975">
                  <a:moveTo>
                    <a:pt x="9829801" y="561974"/>
                  </a:moveTo>
                  <a:lnTo>
                    <a:pt x="76198" y="561974"/>
                  </a:lnTo>
                  <a:lnTo>
                    <a:pt x="46538" y="555986"/>
                  </a:lnTo>
                  <a:lnTo>
                    <a:pt x="22317" y="539657"/>
                  </a:lnTo>
                  <a:lnTo>
                    <a:pt x="5988" y="515436"/>
                  </a:lnTo>
                  <a:lnTo>
                    <a:pt x="0" y="485776"/>
                  </a:lnTo>
                  <a:lnTo>
                    <a:pt x="0" y="76198"/>
                  </a:lnTo>
                  <a:lnTo>
                    <a:pt x="5988" y="46538"/>
                  </a:lnTo>
                  <a:lnTo>
                    <a:pt x="22317" y="22317"/>
                  </a:lnTo>
                  <a:lnTo>
                    <a:pt x="46538" y="5988"/>
                  </a:lnTo>
                  <a:lnTo>
                    <a:pt x="76198" y="0"/>
                  </a:lnTo>
                  <a:lnTo>
                    <a:pt x="9829801" y="0"/>
                  </a:lnTo>
                  <a:lnTo>
                    <a:pt x="9872076" y="12802"/>
                  </a:lnTo>
                  <a:lnTo>
                    <a:pt x="9900199" y="47038"/>
                  </a:lnTo>
                  <a:lnTo>
                    <a:pt x="9905999" y="76198"/>
                  </a:lnTo>
                  <a:lnTo>
                    <a:pt x="9905999" y="485776"/>
                  </a:lnTo>
                  <a:lnTo>
                    <a:pt x="9900011" y="515436"/>
                  </a:lnTo>
                  <a:lnTo>
                    <a:pt x="9883682" y="539657"/>
                  </a:lnTo>
                  <a:lnTo>
                    <a:pt x="9859461" y="555986"/>
                  </a:lnTo>
                  <a:lnTo>
                    <a:pt x="9829801" y="561974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38200" y="2614611"/>
              <a:ext cx="9906000" cy="561975"/>
            </a:xfrm>
            <a:custGeom>
              <a:avLst/>
              <a:gdLst/>
              <a:ahLst/>
              <a:cxnLst/>
              <a:rect l="l" t="t" r="r" b="b"/>
              <a:pathLst>
                <a:path w="9906000" h="561975">
                  <a:moveTo>
                    <a:pt x="0" y="76198"/>
                  </a:moveTo>
                  <a:lnTo>
                    <a:pt x="5988" y="46538"/>
                  </a:lnTo>
                  <a:lnTo>
                    <a:pt x="22317" y="22317"/>
                  </a:lnTo>
                  <a:lnTo>
                    <a:pt x="46538" y="5988"/>
                  </a:lnTo>
                  <a:lnTo>
                    <a:pt x="76198" y="0"/>
                  </a:lnTo>
                  <a:lnTo>
                    <a:pt x="9829801" y="0"/>
                  </a:lnTo>
                  <a:lnTo>
                    <a:pt x="9872076" y="12802"/>
                  </a:lnTo>
                  <a:lnTo>
                    <a:pt x="9900199" y="47038"/>
                  </a:lnTo>
                  <a:lnTo>
                    <a:pt x="9905999" y="76198"/>
                  </a:lnTo>
                  <a:lnTo>
                    <a:pt x="9905999" y="485776"/>
                  </a:lnTo>
                  <a:lnTo>
                    <a:pt x="9900011" y="515436"/>
                  </a:lnTo>
                  <a:lnTo>
                    <a:pt x="9883682" y="539657"/>
                  </a:lnTo>
                  <a:lnTo>
                    <a:pt x="9859461" y="555986"/>
                  </a:lnTo>
                  <a:lnTo>
                    <a:pt x="9829801" y="561974"/>
                  </a:lnTo>
                  <a:lnTo>
                    <a:pt x="76198" y="561974"/>
                  </a:lnTo>
                  <a:lnTo>
                    <a:pt x="46538" y="555986"/>
                  </a:lnTo>
                  <a:lnTo>
                    <a:pt x="22317" y="539657"/>
                  </a:lnTo>
                  <a:lnTo>
                    <a:pt x="5988" y="515436"/>
                  </a:lnTo>
                  <a:lnTo>
                    <a:pt x="0" y="485776"/>
                  </a:lnTo>
                  <a:lnTo>
                    <a:pt x="0" y="76198"/>
                  </a:lnTo>
                  <a:close/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063625" y="2776029"/>
            <a:ext cx="669925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55" dirty="0">
                <a:solidFill>
                  <a:srgbClr val="F1F4F9"/>
                </a:solidFill>
                <a:latin typeface="Lucida Sans"/>
                <a:cs typeface="Lucida Sans"/>
              </a:rPr>
              <a:t>Ingestion</a:t>
            </a:r>
            <a:r>
              <a:rPr sz="1350" b="1" spc="-90" dirty="0">
                <a:solidFill>
                  <a:srgbClr val="F1F4F9"/>
                </a:solidFill>
                <a:latin typeface="Lucida Sans"/>
                <a:cs typeface="Lucida Sans"/>
              </a:rPr>
              <a:t> </a:t>
            </a:r>
            <a:r>
              <a:rPr sz="1350" b="1" dirty="0">
                <a:solidFill>
                  <a:srgbClr val="F1F4F9"/>
                </a:solidFill>
                <a:latin typeface="Lucida Sans"/>
                <a:cs typeface="Lucida Sans"/>
              </a:rPr>
              <a:t>Scale:</a:t>
            </a:r>
            <a:r>
              <a:rPr sz="1350" b="1" spc="-5" dirty="0">
                <a:solidFill>
                  <a:srgbClr val="F1F4F9"/>
                </a:solidFill>
                <a:latin typeface="Lucida Sans"/>
                <a:cs typeface="Lucida Sans"/>
              </a:rPr>
              <a:t> </a:t>
            </a:r>
            <a:r>
              <a:rPr sz="1350" spc="-140" dirty="0">
                <a:solidFill>
                  <a:srgbClr val="F1F4F9"/>
                </a:solidFill>
                <a:latin typeface="Lucida Sans"/>
                <a:cs typeface="Lucida Sans"/>
              </a:rPr>
              <a:t>1,067,371</a:t>
            </a:r>
            <a:r>
              <a:rPr sz="1350" spc="-20" dirty="0">
                <a:solidFill>
                  <a:srgbClr val="F1F4F9"/>
                </a:solidFill>
                <a:latin typeface="Lucida Sans"/>
                <a:cs typeface="Lucida Sans"/>
              </a:rPr>
              <a:t> </a:t>
            </a:r>
            <a:r>
              <a:rPr sz="1350" dirty="0">
                <a:solidFill>
                  <a:srgbClr val="F1F4F9"/>
                </a:solidFill>
                <a:latin typeface="Lucida Sans"/>
                <a:cs typeface="Lucida Sans"/>
              </a:rPr>
              <a:t>raw</a:t>
            </a:r>
            <a:r>
              <a:rPr sz="1350" spc="-15" dirty="0">
                <a:solidFill>
                  <a:srgbClr val="F1F4F9"/>
                </a:solidFill>
                <a:latin typeface="Lucida Sans"/>
                <a:cs typeface="Lucida Sans"/>
              </a:rPr>
              <a:t> </a:t>
            </a:r>
            <a:r>
              <a:rPr sz="1350" dirty="0">
                <a:solidFill>
                  <a:srgbClr val="F1F4F9"/>
                </a:solidFill>
                <a:latin typeface="Lucida Sans"/>
                <a:cs typeface="Lucida Sans"/>
              </a:rPr>
              <a:t>rows</a:t>
            </a:r>
            <a:r>
              <a:rPr sz="1350" spc="-15" dirty="0">
                <a:solidFill>
                  <a:srgbClr val="F1F4F9"/>
                </a:solidFill>
                <a:latin typeface="Lucida Sans"/>
                <a:cs typeface="Lucida Sans"/>
              </a:rPr>
              <a:t> </a:t>
            </a:r>
            <a:r>
              <a:rPr sz="1350" dirty="0">
                <a:solidFill>
                  <a:srgbClr val="F1F4F9"/>
                </a:solidFill>
                <a:latin typeface="Lucida Sans"/>
                <a:cs typeface="Lucida Sans"/>
              </a:rPr>
              <a:t>processed</a:t>
            </a:r>
            <a:r>
              <a:rPr sz="1350" spc="-20" dirty="0">
                <a:solidFill>
                  <a:srgbClr val="F1F4F9"/>
                </a:solidFill>
                <a:latin typeface="Lucida Sans"/>
                <a:cs typeface="Lucida Sans"/>
              </a:rPr>
              <a:t> </a:t>
            </a:r>
            <a:r>
              <a:rPr sz="1350" spc="-55" dirty="0">
                <a:solidFill>
                  <a:srgbClr val="F1F4F9"/>
                </a:solidFill>
                <a:latin typeface="Lucida Sans"/>
                <a:cs typeface="Lucida Sans"/>
              </a:rPr>
              <a:t>into</a:t>
            </a:r>
            <a:r>
              <a:rPr sz="1350" spc="-15" dirty="0">
                <a:solidFill>
                  <a:srgbClr val="F1F4F9"/>
                </a:solidFill>
                <a:latin typeface="Lucida Sans"/>
                <a:cs typeface="Lucida Sans"/>
              </a:rPr>
              <a:t> </a:t>
            </a:r>
            <a:r>
              <a:rPr sz="1350" spc="-125" dirty="0">
                <a:solidFill>
                  <a:srgbClr val="F1F4F9"/>
                </a:solidFill>
                <a:latin typeface="Lucida Sans"/>
                <a:cs typeface="Lucida Sans"/>
              </a:rPr>
              <a:t>1,017,985</a:t>
            </a:r>
            <a:r>
              <a:rPr sz="1350" spc="-20" dirty="0">
                <a:solidFill>
                  <a:srgbClr val="F1F4F9"/>
                </a:solidFill>
                <a:latin typeface="Lucida Sans"/>
                <a:cs typeface="Lucida Sans"/>
              </a:rPr>
              <a:t> </a:t>
            </a:r>
            <a:r>
              <a:rPr sz="1350" spc="-10" dirty="0">
                <a:solidFill>
                  <a:srgbClr val="F1F4F9"/>
                </a:solidFill>
                <a:latin typeface="Lucida Sans"/>
                <a:cs typeface="Lucida Sans"/>
              </a:rPr>
              <a:t>curated</a:t>
            </a:r>
            <a:r>
              <a:rPr sz="1350" spc="-15" dirty="0">
                <a:solidFill>
                  <a:srgbClr val="F1F4F9"/>
                </a:solidFill>
                <a:latin typeface="Lucida Sans"/>
                <a:cs typeface="Lucida Sans"/>
              </a:rPr>
              <a:t> </a:t>
            </a:r>
            <a:r>
              <a:rPr sz="1350" dirty="0">
                <a:solidFill>
                  <a:srgbClr val="F1F4F9"/>
                </a:solidFill>
                <a:latin typeface="Lucida Sans"/>
                <a:cs typeface="Lucida Sans"/>
              </a:rPr>
              <a:t>fact</a:t>
            </a:r>
            <a:r>
              <a:rPr sz="1350" spc="-20" dirty="0">
                <a:solidFill>
                  <a:srgbClr val="F1F4F9"/>
                </a:solidFill>
                <a:latin typeface="Lucida Sans"/>
                <a:cs typeface="Lucida Sans"/>
              </a:rPr>
              <a:t> </a:t>
            </a:r>
            <a:r>
              <a:rPr sz="1350" spc="-10" dirty="0">
                <a:solidFill>
                  <a:srgbClr val="F1F4F9"/>
                </a:solidFill>
                <a:latin typeface="Lucida Sans"/>
                <a:cs typeface="Lucida Sans"/>
              </a:rPr>
              <a:t>records.</a:t>
            </a:r>
            <a:endParaRPr sz="1350">
              <a:latin typeface="Lucida Sans"/>
              <a:cs typeface="Lucida San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33437" y="3343274"/>
            <a:ext cx="9915525" cy="571500"/>
            <a:chOff x="833437" y="3343274"/>
            <a:chExt cx="9915525" cy="571500"/>
          </a:xfrm>
        </p:grpSpPr>
        <p:sp>
          <p:nvSpPr>
            <p:cNvPr id="7" name="object 7"/>
            <p:cNvSpPr/>
            <p:nvPr/>
          </p:nvSpPr>
          <p:spPr>
            <a:xfrm>
              <a:off x="838200" y="3348037"/>
              <a:ext cx="9906000" cy="561975"/>
            </a:xfrm>
            <a:custGeom>
              <a:avLst/>
              <a:gdLst/>
              <a:ahLst/>
              <a:cxnLst/>
              <a:rect l="l" t="t" r="r" b="b"/>
              <a:pathLst>
                <a:path w="9906000" h="561975">
                  <a:moveTo>
                    <a:pt x="9829801" y="561974"/>
                  </a:moveTo>
                  <a:lnTo>
                    <a:pt x="76198" y="561974"/>
                  </a:lnTo>
                  <a:lnTo>
                    <a:pt x="46538" y="555986"/>
                  </a:lnTo>
                  <a:lnTo>
                    <a:pt x="22317" y="539657"/>
                  </a:lnTo>
                  <a:lnTo>
                    <a:pt x="5988" y="515436"/>
                  </a:lnTo>
                  <a:lnTo>
                    <a:pt x="0" y="485776"/>
                  </a:lnTo>
                  <a:lnTo>
                    <a:pt x="0" y="76197"/>
                  </a:lnTo>
                  <a:lnTo>
                    <a:pt x="5988" y="46538"/>
                  </a:lnTo>
                  <a:lnTo>
                    <a:pt x="22317" y="22317"/>
                  </a:lnTo>
                  <a:lnTo>
                    <a:pt x="46538" y="5988"/>
                  </a:lnTo>
                  <a:lnTo>
                    <a:pt x="76198" y="0"/>
                  </a:lnTo>
                  <a:lnTo>
                    <a:pt x="9829801" y="0"/>
                  </a:lnTo>
                  <a:lnTo>
                    <a:pt x="9872076" y="12802"/>
                  </a:lnTo>
                  <a:lnTo>
                    <a:pt x="9900199" y="47038"/>
                  </a:lnTo>
                  <a:lnTo>
                    <a:pt x="9905999" y="76197"/>
                  </a:lnTo>
                  <a:lnTo>
                    <a:pt x="9905999" y="485776"/>
                  </a:lnTo>
                  <a:lnTo>
                    <a:pt x="9900011" y="515436"/>
                  </a:lnTo>
                  <a:lnTo>
                    <a:pt x="9883682" y="539657"/>
                  </a:lnTo>
                  <a:lnTo>
                    <a:pt x="9859461" y="555986"/>
                  </a:lnTo>
                  <a:lnTo>
                    <a:pt x="9829801" y="561974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8200" y="3348037"/>
              <a:ext cx="9906000" cy="561975"/>
            </a:xfrm>
            <a:custGeom>
              <a:avLst/>
              <a:gdLst/>
              <a:ahLst/>
              <a:cxnLst/>
              <a:rect l="l" t="t" r="r" b="b"/>
              <a:pathLst>
                <a:path w="9906000" h="561975">
                  <a:moveTo>
                    <a:pt x="0" y="76197"/>
                  </a:moveTo>
                  <a:lnTo>
                    <a:pt x="5988" y="46538"/>
                  </a:lnTo>
                  <a:lnTo>
                    <a:pt x="22317" y="22317"/>
                  </a:lnTo>
                  <a:lnTo>
                    <a:pt x="46538" y="5988"/>
                  </a:lnTo>
                  <a:lnTo>
                    <a:pt x="76198" y="0"/>
                  </a:lnTo>
                  <a:lnTo>
                    <a:pt x="9829801" y="0"/>
                  </a:lnTo>
                  <a:lnTo>
                    <a:pt x="9872076" y="12802"/>
                  </a:lnTo>
                  <a:lnTo>
                    <a:pt x="9900199" y="47038"/>
                  </a:lnTo>
                  <a:lnTo>
                    <a:pt x="9905999" y="76197"/>
                  </a:lnTo>
                  <a:lnTo>
                    <a:pt x="9905999" y="485776"/>
                  </a:lnTo>
                  <a:lnTo>
                    <a:pt x="9900011" y="515436"/>
                  </a:lnTo>
                  <a:lnTo>
                    <a:pt x="9883682" y="539657"/>
                  </a:lnTo>
                  <a:lnTo>
                    <a:pt x="9859461" y="555986"/>
                  </a:lnTo>
                  <a:lnTo>
                    <a:pt x="9829801" y="561974"/>
                  </a:lnTo>
                  <a:lnTo>
                    <a:pt x="76198" y="561974"/>
                  </a:lnTo>
                  <a:lnTo>
                    <a:pt x="46538" y="555986"/>
                  </a:lnTo>
                  <a:lnTo>
                    <a:pt x="22317" y="539657"/>
                  </a:lnTo>
                  <a:lnTo>
                    <a:pt x="5988" y="515436"/>
                  </a:lnTo>
                  <a:lnTo>
                    <a:pt x="0" y="485776"/>
                  </a:lnTo>
                  <a:lnTo>
                    <a:pt x="0" y="76197"/>
                  </a:lnTo>
                  <a:close/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063625" y="3509454"/>
            <a:ext cx="465074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30" dirty="0">
                <a:solidFill>
                  <a:srgbClr val="F1F4F9"/>
                </a:solidFill>
                <a:latin typeface="Lucida Sans"/>
                <a:cs typeface="Lucida Sans"/>
              </a:rPr>
              <a:t>Memory</a:t>
            </a:r>
            <a:r>
              <a:rPr sz="1350" b="1" spc="-95" dirty="0">
                <a:solidFill>
                  <a:srgbClr val="F1F4F9"/>
                </a:solidFill>
                <a:latin typeface="Lucida Sans"/>
                <a:cs typeface="Lucida Sans"/>
              </a:rPr>
              <a:t> </a:t>
            </a:r>
            <a:r>
              <a:rPr sz="1350" b="1" spc="-10" dirty="0">
                <a:solidFill>
                  <a:srgbClr val="F1F4F9"/>
                </a:solidFill>
                <a:latin typeface="Lucida Sans"/>
                <a:cs typeface="Lucida Sans"/>
              </a:rPr>
              <a:t>Efficiency:</a:t>
            </a:r>
            <a:r>
              <a:rPr sz="1350" b="1" spc="-15" dirty="0">
                <a:solidFill>
                  <a:srgbClr val="F1F4F9"/>
                </a:solidFill>
                <a:latin typeface="Lucida Sans"/>
                <a:cs typeface="Lucida Sans"/>
              </a:rPr>
              <a:t> </a:t>
            </a:r>
            <a:r>
              <a:rPr sz="1350" spc="-204" dirty="0">
                <a:solidFill>
                  <a:srgbClr val="F1F4F9"/>
                </a:solidFill>
                <a:latin typeface="Lucida Sans"/>
                <a:cs typeface="Lucida Sans"/>
              </a:rPr>
              <a:t>130</a:t>
            </a:r>
            <a:r>
              <a:rPr sz="1350" spc="-25" dirty="0">
                <a:solidFill>
                  <a:srgbClr val="F1F4F9"/>
                </a:solidFill>
                <a:latin typeface="Lucida Sans"/>
                <a:cs typeface="Lucida Sans"/>
              </a:rPr>
              <a:t> </a:t>
            </a:r>
            <a:r>
              <a:rPr sz="1350" spc="75" dirty="0">
                <a:solidFill>
                  <a:srgbClr val="F1F4F9"/>
                </a:solidFill>
                <a:latin typeface="Lucida Sans"/>
                <a:cs typeface="Lucida Sans"/>
              </a:rPr>
              <a:t>MB</a:t>
            </a:r>
            <a:r>
              <a:rPr sz="1350" spc="-25" dirty="0">
                <a:solidFill>
                  <a:srgbClr val="F1F4F9"/>
                </a:solidFill>
                <a:latin typeface="Lucida Sans"/>
                <a:cs typeface="Lucida Sans"/>
              </a:rPr>
              <a:t> </a:t>
            </a:r>
            <a:r>
              <a:rPr sz="1350" dirty="0">
                <a:solidFill>
                  <a:srgbClr val="F1F4F9"/>
                </a:solidFill>
                <a:latin typeface="Lucida Sans"/>
                <a:cs typeface="Lucida Sans"/>
              </a:rPr>
              <a:t>RAM</a:t>
            </a:r>
            <a:r>
              <a:rPr sz="1350" spc="-20" dirty="0">
                <a:solidFill>
                  <a:srgbClr val="F1F4F9"/>
                </a:solidFill>
                <a:latin typeface="Lucida Sans"/>
                <a:cs typeface="Lucida Sans"/>
              </a:rPr>
              <a:t> </a:t>
            </a:r>
            <a:r>
              <a:rPr sz="1350" spc="-55" dirty="0">
                <a:solidFill>
                  <a:srgbClr val="F1F4F9"/>
                </a:solidFill>
                <a:latin typeface="Lucida Sans"/>
                <a:cs typeface="Lucida Sans"/>
              </a:rPr>
              <a:t>utilization</a:t>
            </a:r>
            <a:r>
              <a:rPr sz="1350" spc="-25" dirty="0">
                <a:solidFill>
                  <a:srgbClr val="F1F4F9"/>
                </a:solidFill>
                <a:latin typeface="Lucida Sans"/>
                <a:cs typeface="Lucida Sans"/>
              </a:rPr>
              <a:t> </a:t>
            </a:r>
            <a:r>
              <a:rPr sz="1350" spc="-40" dirty="0">
                <a:solidFill>
                  <a:srgbClr val="F1F4F9"/>
                </a:solidFill>
                <a:latin typeface="Lucida Sans"/>
                <a:cs typeface="Lucida Sans"/>
              </a:rPr>
              <a:t>during</a:t>
            </a:r>
            <a:r>
              <a:rPr sz="1350" spc="-20" dirty="0">
                <a:solidFill>
                  <a:srgbClr val="F1F4F9"/>
                </a:solidFill>
                <a:latin typeface="Lucida Sans"/>
                <a:cs typeface="Lucida Sans"/>
              </a:rPr>
              <a:t> ETL.</a:t>
            </a:r>
            <a:endParaRPr sz="1350">
              <a:latin typeface="Lucida Sans"/>
              <a:cs typeface="Lucida San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33437" y="4076699"/>
            <a:ext cx="9915525" cy="571500"/>
            <a:chOff x="833437" y="4076699"/>
            <a:chExt cx="9915525" cy="571500"/>
          </a:xfrm>
        </p:grpSpPr>
        <p:sp>
          <p:nvSpPr>
            <p:cNvPr id="10" name="object 10"/>
            <p:cNvSpPr/>
            <p:nvPr/>
          </p:nvSpPr>
          <p:spPr>
            <a:xfrm>
              <a:off x="838200" y="4081462"/>
              <a:ext cx="9906000" cy="561975"/>
            </a:xfrm>
            <a:custGeom>
              <a:avLst/>
              <a:gdLst/>
              <a:ahLst/>
              <a:cxnLst/>
              <a:rect l="l" t="t" r="r" b="b"/>
              <a:pathLst>
                <a:path w="9906000" h="561975">
                  <a:moveTo>
                    <a:pt x="9829801" y="561974"/>
                  </a:moveTo>
                  <a:lnTo>
                    <a:pt x="76198" y="561974"/>
                  </a:lnTo>
                  <a:lnTo>
                    <a:pt x="46538" y="555986"/>
                  </a:lnTo>
                  <a:lnTo>
                    <a:pt x="22317" y="539657"/>
                  </a:lnTo>
                  <a:lnTo>
                    <a:pt x="5988" y="515436"/>
                  </a:lnTo>
                  <a:lnTo>
                    <a:pt x="0" y="485776"/>
                  </a:lnTo>
                  <a:lnTo>
                    <a:pt x="0" y="76197"/>
                  </a:lnTo>
                  <a:lnTo>
                    <a:pt x="5988" y="46538"/>
                  </a:lnTo>
                  <a:lnTo>
                    <a:pt x="22317" y="22317"/>
                  </a:lnTo>
                  <a:lnTo>
                    <a:pt x="46538" y="5988"/>
                  </a:lnTo>
                  <a:lnTo>
                    <a:pt x="76198" y="0"/>
                  </a:lnTo>
                  <a:lnTo>
                    <a:pt x="9829801" y="0"/>
                  </a:lnTo>
                  <a:lnTo>
                    <a:pt x="9872076" y="12802"/>
                  </a:lnTo>
                  <a:lnTo>
                    <a:pt x="9900199" y="47038"/>
                  </a:lnTo>
                  <a:lnTo>
                    <a:pt x="9905999" y="76197"/>
                  </a:lnTo>
                  <a:lnTo>
                    <a:pt x="9905999" y="485776"/>
                  </a:lnTo>
                  <a:lnTo>
                    <a:pt x="9900011" y="515436"/>
                  </a:lnTo>
                  <a:lnTo>
                    <a:pt x="9883682" y="539657"/>
                  </a:lnTo>
                  <a:lnTo>
                    <a:pt x="9859461" y="555986"/>
                  </a:lnTo>
                  <a:lnTo>
                    <a:pt x="9829801" y="561974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38200" y="4081462"/>
              <a:ext cx="9906000" cy="561975"/>
            </a:xfrm>
            <a:custGeom>
              <a:avLst/>
              <a:gdLst/>
              <a:ahLst/>
              <a:cxnLst/>
              <a:rect l="l" t="t" r="r" b="b"/>
              <a:pathLst>
                <a:path w="9906000" h="561975">
                  <a:moveTo>
                    <a:pt x="0" y="76197"/>
                  </a:moveTo>
                  <a:lnTo>
                    <a:pt x="5988" y="46538"/>
                  </a:lnTo>
                  <a:lnTo>
                    <a:pt x="22317" y="22317"/>
                  </a:lnTo>
                  <a:lnTo>
                    <a:pt x="46538" y="5988"/>
                  </a:lnTo>
                  <a:lnTo>
                    <a:pt x="76198" y="0"/>
                  </a:lnTo>
                  <a:lnTo>
                    <a:pt x="9829801" y="0"/>
                  </a:lnTo>
                  <a:lnTo>
                    <a:pt x="9872076" y="12802"/>
                  </a:lnTo>
                  <a:lnTo>
                    <a:pt x="9900199" y="47038"/>
                  </a:lnTo>
                  <a:lnTo>
                    <a:pt x="9905999" y="76197"/>
                  </a:lnTo>
                  <a:lnTo>
                    <a:pt x="9905999" y="485776"/>
                  </a:lnTo>
                  <a:lnTo>
                    <a:pt x="9900011" y="515436"/>
                  </a:lnTo>
                  <a:lnTo>
                    <a:pt x="9883682" y="539657"/>
                  </a:lnTo>
                  <a:lnTo>
                    <a:pt x="9859461" y="555986"/>
                  </a:lnTo>
                  <a:lnTo>
                    <a:pt x="9829801" y="561974"/>
                  </a:lnTo>
                  <a:lnTo>
                    <a:pt x="76198" y="561974"/>
                  </a:lnTo>
                  <a:lnTo>
                    <a:pt x="46538" y="555986"/>
                  </a:lnTo>
                  <a:lnTo>
                    <a:pt x="22317" y="539657"/>
                  </a:lnTo>
                  <a:lnTo>
                    <a:pt x="5988" y="515436"/>
                  </a:lnTo>
                  <a:lnTo>
                    <a:pt x="0" y="485776"/>
                  </a:lnTo>
                  <a:lnTo>
                    <a:pt x="0" y="76197"/>
                  </a:lnTo>
                  <a:close/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063625" y="4242879"/>
            <a:ext cx="601916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35" dirty="0">
                <a:solidFill>
                  <a:srgbClr val="F1F4F9"/>
                </a:solidFill>
                <a:latin typeface="Lucida Sans"/>
                <a:cs typeface="Lucida Sans"/>
              </a:rPr>
              <a:t>Query</a:t>
            </a:r>
            <a:r>
              <a:rPr sz="1350" b="1" spc="-114" dirty="0">
                <a:solidFill>
                  <a:srgbClr val="F1F4F9"/>
                </a:solidFill>
                <a:latin typeface="Lucida Sans"/>
                <a:cs typeface="Lucida Sans"/>
              </a:rPr>
              <a:t> </a:t>
            </a:r>
            <a:r>
              <a:rPr sz="1350" b="1" dirty="0">
                <a:solidFill>
                  <a:srgbClr val="F1F4F9"/>
                </a:solidFill>
                <a:latin typeface="Lucida Sans"/>
                <a:cs typeface="Lucida Sans"/>
              </a:rPr>
              <a:t>Latency:</a:t>
            </a:r>
            <a:r>
              <a:rPr sz="1350" b="1" spc="-45" dirty="0">
                <a:solidFill>
                  <a:srgbClr val="F1F4F9"/>
                </a:solidFill>
                <a:latin typeface="Lucida Sans"/>
                <a:cs typeface="Lucida Sans"/>
              </a:rPr>
              <a:t> </a:t>
            </a:r>
            <a:r>
              <a:rPr sz="1350" spc="-25" dirty="0">
                <a:solidFill>
                  <a:srgbClr val="F1F4F9"/>
                </a:solidFill>
                <a:latin typeface="Lucida Sans"/>
                <a:cs typeface="Lucida Sans"/>
              </a:rPr>
              <a:t>Sub-</a:t>
            </a:r>
            <a:r>
              <a:rPr sz="1350" spc="-10" dirty="0">
                <a:solidFill>
                  <a:srgbClr val="F1F4F9"/>
                </a:solidFill>
                <a:latin typeface="Lucida Sans"/>
                <a:cs typeface="Lucida Sans"/>
              </a:rPr>
              <a:t>150</a:t>
            </a:r>
            <a:r>
              <a:rPr sz="1350" spc="-45" dirty="0">
                <a:solidFill>
                  <a:srgbClr val="F1F4F9"/>
                </a:solidFill>
                <a:latin typeface="Lucida Sans"/>
                <a:cs typeface="Lucida Sans"/>
              </a:rPr>
              <a:t> </a:t>
            </a:r>
            <a:r>
              <a:rPr sz="1350" spc="-10" dirty="0">
                <a:solidFill>
                  <a:srgbClr val="F1F4F9"/>
                </a:solidFill>
                <a:latin typeface="Lucida Sans"/>
                <a:cs typeface="Lucida Sans"/>
              </a:rPr>
              <a:t>ms</a:t>
            </a:r>
            <a:r>
              <a:rPr sz="1350" spc="-45" dirty="0">
                <a:solidFill>
                  <a:srgbClr val="F1F4F9"/>
                </a:solidFill>
                <a:latin typeface="Lucida Sans"/>
                <a:cs typeface="Lucida Sans"/>
              </a:rPr>
              <a:t> </a:t>
            </a:r>
            <a:r>
              <a:rPr sz="1350" dirty="0">
                <a:solidFill>
                  <a:srgbClr val="F1F4F9"/>
                </a:solidFill>
                <a:latin typeface="Lucida Sans"/>
                <a:cs typeface="Lucida Sans"/>
              </a:rPr>
              <a:t>API</a:t>
            </a:r>
            <a:r>
              <a:rPr sz="1350" spc="-45" dirty="0">
                <a:solidFill>
                  <a:srgbClr val="F1F4F9"/>
                </a:solidFill>
                <a:latin typeface="Lucida Sans"/>
                <a:cs typeface="Lucida Sans"/>
              </a:rPr>
              <a:t> </a:t>
            </a:r>
            <a:r>
              <a:rPr sz="1350" spc="-10" dirty="0">
                <a:solidFill>
                  <a:srgbClr val="F1F4F9"/>
                </a:solidFill>
                <a:latin typeface="Lucida Sans"/>
                <a:cs typeface="Lucida Sans"/>
              </a:rPr>
              <a:t>response</a:t>
            </a:r>
            <a:r>
              <a:rPr sz="1350" spc="-45" dirty="0">
                <a:solidFill>
                  <a:srgbClr val="F1F4F9"/>
                </a:solidFill>
                <a:latin typeface="Lucida Sans"/>
                <a:cs typeface="Lucida Sans"/>
              </a:rPr>
              <a:t> </a:t>
            </a:r>
            <a:r>
              <a:rPr sz="1350" spc="-30" dirty="0">
                <a:solidFill>
                  <a:srgbClr val="F1F4F9"/>
                </a:solidFill>
                <a:latin typeface="Lucida Sans"/>
                <a:cs typeface="Lucida Sans"/>
              </a:rPr>
              <a:t>times</a:t>
            </a:r>
            <a:r>
              <a:rPr sz="1350" spc="-45" dirty="0">
                <a:solidFill>
                  <a:srgbClr val="F1F4F9"/>
                </a:solidFill>
                <a:latin typeface="Lucida Sans"/>
                <a:cs typeface="Lucida Sans"/>
              </a:rPr>
              <a:t> </a:t>
            </a:r>
            <a:r>
              <a:rPr sz="1350" spc="-25" dirty="0">
                <a:solidFill>
                  <a:srgbClr val="F1F4F9"/>
                </a:solidFill>
                <a:latin typeface="Lucida Sans"/>
                <a:cs typeface="Lucida Sans"/>
              </a:rPr>
              <a:t>under</a:t>
            </a:r>
            <a:r>
              <a:rPr sz="1350" spc="-45" dirty="0">
                <a:solidFill>
                  <a:srgbClr val="F1F4F9"/>
                </a:solidFill>
                <a:latin typeface="Lucida Sans"/>
                <a:cs typeface="Lucida Sans"/>
              </a:rPr>
              <a:t> index </a:t>
            </a:r>
            <a:r>
              <a:rPr sz="1350" spc="-20" dirty="0">
                <a:solidFill>
                  <a:srgbClr val="F1F4F9"/>
                </a:solidFill>
                <a:latin typeface="Lucida Sans"/>
                <a:cs typeface="Lucida Sans"/>
              </a:rPr>
              <a:t>optimization.</a:t>
            </a:r>
            <a:endParaRPr sz="1350">
              <a:latin typeface="Lucida Sans"/>
              <a:cs typeface="Lucida San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33437" y="4810124"/>
            <a:ext cx="9915525" cy="571500"/>
            <a:chOff x="833437" y="4810124"/>
            <a:chExt cx="9915525" cy="571500"/>
          </a:xfrm>
        </p:grpSpPr>
        <p:sp>
          <p:nvSpPr>
            <p:cNvPr id="13" name="object 13"/>
            <p:cNvSpPr/>
            <p:nvPr/>
          </p:nvSpPr>
          <p:spPr>
            <a:xfrm>
              <a:off x="838200" y="4814887"/>
              <a:ext cx="9906000" cy="561975"/>
            </a:xfrm>
            <a:custGeom>
              <a:avLst/>
              <a:gdLst/>
              <a:ahLst/>
              <a:cxnLst/>
              <a:rect l="l" t="t" r="r" b="b"/>
              <a:pathLst>
                <a:path w="9906000" h="561975">
                  <a:moveTo>
                    <a:pt x="9829801" y="561974"/>
                  </a:moveTo>
                  <a:lnTo>
                    <a:pt x="76198" y="561974"/>
                  </a:lnTo>
                  <a:lnTo>
                    <a:pt x="46538" y="555986"/>
                  </a:lnTo>
                  <a:lnTo>
                    <a:pt x="22317" y="539657"/>
                  </a:lnTo>
                  <a:lnTo>
                    <a:pt x="5988" y="515436"/>
                  </a:lnTo>
                  <a:lnTo>
                    <a:pt x="0" y="485776"/>
                  </a:lnTo>
                  <a:lnTo>
                    <a:pt x="0" y="76197"/>
                  </a:lnTo>
                  <a:lnTo>
                    <a:pt x="5988" y="46538"/>
                  </a:lnTo>
                  <a:lnTo>
                    <a:pt x="22317" y="22317"/>
                  </a:lnTo>
                  <a:lnTo>
                    <a:pt x="46538" y="5988"/>
                  </a:lnTo>
                  <a:lnTo>
                    <a:pt x="76198" y="0"/>
                  </a:lnTo>
                  <a:lnTo>
                    <a:pt x="9829801" y="0"/>
                  </a:lnTo>
                  <a:lnTo>
                    <a:pt x="9872076" y="12802"/>
                  </a:lnTo>
                  <a:lnTo>
                    <a:pt x="9900199" y="47038"/>
                  </a:lnTo>
                  <a:lnTo>
                    <a:pt x="9905999" y="76197"/>
                  </a:lnTo>
                  <a:lnTo>
                    <a:pt x="9905999" y="485776"/>
                  </a:lnTo>
                  <a:lnTo>
                    <a:pt x="9900011" y="515436"/>
                  </a:lnTo>
                  <a:lnTo>
                    <a:pt x="9883682" y="539657"/>
                  </a:lnTo>
                  <a:lnTo>
                    <a:pt x="9859461" y="555986"/>
                  </a:lnTo>
                  <a:lnTo>
                    <a:pt x="9829801" y="561974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38200" y="4814887"/>
              <a:ext cx="9906000" cy="561975"/>
            </a:xfrm>
            <a:custGeom>
              <a:avLst/>
              <a:gdLst/>
              <a:ahLst/>
              <a:cxnLst/>
              <a:rect l="l" t="t" r="r" b="b"/>
              <a:pathLst>
                <a:path w="9906000" h="561975">
                  <a:moveTo>
                    <a:pt x="0" y="76197"/>
                  </a:moveTo>
                  <a:lnTo>
                    <a:pt x="5988" y="46538"/>
                  </a:lnTo>
                  <a:lnTo>
                    <a:pt x="22317" y="22317"/>
                  </a:lnTo>
                  <a:lnTo>
                    <a:pt x="46538" y="5988"/>
                  </a:lnTo>
                  <a:lnTo>
                    <a:pt x="76198" y="0"/>
                  </a:lnTo>
                  <a:lnTo>
                    <a:pt x="9829801" y="0"/>
                  </a:lnTo>
                  <a:lnTo>
                    <a:pt x="9872076" y="12802"/>
                  </a:lnTo>
                  <a:lnTo>
                    <a:pt x="9900199" y="47038"/>
                  </a:lnTo>
                  <a:lnTo>
                    <a:pt x="9905999" y="76197"/>
                  </a:lnTo>
                  <a:lnTo>
                    <a:pt x="9905999" y="485776"/>
                  </a:lnTo>
                  <a:lnTo>
                    <a:pt x="9900011" y="515436"/>
                  </a:lnTo>
                  <a:lnTo>
                    <a:pt x="9883682" y="539657"/>
                  </a:lnTo>
                  <a:lnTo>
                    <a:pt x="9859461" y="555986"/>
                  </a:lnTo>
                  <a:lnTo>
                    <a:pt x="9829801" y="561974"/>
                  </a:lnTo>
                  <a:lnTo>
                    <a:pt x="76198" y="561974"/>
                  </a:lnTo>
                  <a:lnTo>
                    <a:pt x="46538" y="555986"/>
                  </a:lnTo>
                  <a:lnTo>
                    <a:pt x="22317" y="539657"/>
                  </a:lnTo>
                  <a:lnTo>
                    <a:pt x="5988" y="515436"/>
                  </a:lnTo>
                  <a:lnTo>
                    <a:pt x="0" y="485776"/>
                  </a:lnTo>
                  <a:lnTo>
                    <a:pt x="0" y="76197"/>
                  </a:lnTo>
                  <a:close/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063625" y="4976304"/>
            <a:ext cx="6636384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20" dirty="0">
                <a:solidFill>
                  <a:srgbClr val="F1F4F9"/>
                </a:solidFill>
                <a:latin typeface="Lucida Sans"/>
                <a:cs typeface="Lucida Sans"/>
              </a:rPr>
              <a:t>Stability:</a:t>
            </a:r>
            <a:r>
              <a:rPr sz="1350" b="1" spc="-55" dirty="0">
                <a:solidFill>
                  <a:srgbClr val="F1F4F9"/>
                </a:solidFill>
                <a:latin typeface="Lucida Sans"/>
                <a:cs typeface="Lucida Sans"/>
              </a:rPr>
              <a:t> </a:t>
            </a:r>
            <a:r>
              <a:rPr sz="1350" spc="-10" dirty="0">
                <a:solidFill>
                  <a:srgbClr val="F1F4F9"/>
                </a:solidFill>
                <a:latin typeface="Lucida Sans"/>
                <a:cs typeface="Lucida Sans"/>
              </a:rPr>
              <a:t>Fully</a:t>
            </a:r>
            <a:r>
              <a:rPr sz="1350" spc="-50" dirty="0">
                <a:solidFill>
                  <a:srgbClr val="F1F4F9"/>
                </a:solidFill>
                <a:latin typeface="Lucida Sans"/>
                <a:cs typeface="Lucida Sans"/>
              </a:rPr>
              <a:t> </a:t>
            </a:r>
            <a:r>
              <a:rPr sz="1350" spc="-35" dirty="0">
                <a:solidFill>
                  <a:srgbClr val="F1F4F9"/>
                </a:solidFill>
                <a:latin typeface="Lucida Sans"/>
                <a:cs typeface="Lucida Sans"/>
              </a:rPr>
              <a:t>audited</a:t>
            </a:r>
            <a:r>
              <a:rPr sz="1350" spc="-50" dirty="0">
                <a:solidFill>
                  <a:srgbClr val="F1F4F9"/>
                </a:solidFill>
                <a:latin typeface="Lucida Sans"/>
                <a:cs typeface="Lucida Sans"/>
              </a:rPr>
              <a:t> </a:t>
            </a:r>
            <a:r>
              <a:rPr sz="1350" spc="-30" dirty="0">
                <a:solidFill>
                  <a:srgbClr val="F1F4F9"/>
                </a:solidFill>
                <a:latin typeface="Lucida Sans"/>
                <a:cs typeface="Lucida Sans"/>
              </a:rPr>
              <a:t>incremental</a:t>
            </a:r>
            <a:r>
              <a:rPr sz="1350" spc="-55" dirty="0">
                <a:solidFill>
                  <a:srgbClr val="F1F4F9"/>
                </a:solidFill>
                <a:latin typeface="Lucida Sans"/>
                <a:cs typeface="Lucida Sans"/>
              </a:rPr>
              <a:t> </a:t>
            </a:r>
            <a:r>
              <a:rPr sz="1350" spc="-25" dirty="0">
                <a:solidFill>
                  <a:srgbClr val="F1F4F9"/>
                </a:solidFill>
                <a:latin typeface="Lucida Sans"/>
                <a:cs typeface="Lucida Sans"/>
              </a:rPr>
              <a:t>pipeline</a:t>
            </a:r>
            <a:r>
              <a:rPr sz="1350" spc="-50" dirty="0">
                <a:solidFill>
                  <a:srgbClr val="F1F4F9"/>
                </a:solidFill>
                <a:latin typeface="Lucida Sans"/>
                <a:cs typeface="Lucida Sans"/>
              </a:rPr>
              <a:t> </a:t>
            </a:r>
            <a:r>
              <a:rPr sz="1350" spc="-25" dirty="0">
                <a:solidFill>
                  <a:srgbClr val="F1F4F9"/>
                </a:solidFill>
                <a:latin typeface="Lucida Sans"/>
                <a:cs typeface="Lucida Sans"/>
              </a:rPr>
              <a:t>with</a:t>
            </a:r>
            <a:r>
              <a:rPr sz="1350" spc="-50" dirty="0">
                <a:solidFill>
                  <a:srgbClr val="F1F4F9"/>
                </a:solidFill>
                <a:latin typeface="Lucida Sans"/>
                <a:cs typeface="Lucida Sans"/>
              </a:rPr>
              <a:t> </a:t>
            </a:r>
            <a:r>
              <a:rPr sz="1350" spc="-40" dirty="0">
                <a:solidFill>
                  <a:srgbClr val="F1F4F9"/>
                </a:solidFill>
                <a:latin typeface="Lucida Sans"/>
                <a:cs typeface="Lucida Sans"/>
              </a:rPr>
              <a:t>automated</a:t>
            </a:r>
            <a:r>
              <a:rPr sz="1350" spc="-50" dirty="0">
                <a:solidFill>
                  <a:srgbClr val="F1F4F9"/>
                </a:solidFill>
                <a:latin typeface="Lucida Sans"/>
                <a:cs typeface="Lucida Sans"/>
              </a:rPr>
              <a:t> </a:t>
            </a:r>
            <a:r>
              <a:rPr sz="1350" spc="-20" dirty="0">
                <a:solidFill>
                  <a:srgbClr val="F1F4F9"/>
                </a:solidFill>
                <a:latin typeface="Lucida Sans"/>
                <a:cs typeface="Lucida Sans"/>
              </a:rPr>
              <a:t>teardown</a:t>
            </a:r>
            <a:r>
              <a:rPr sz="1350" spc="-55" dirty="0">
                <a:solidFill>
                  <a:srgbClr val="F1F4F9"/>
                </a:solidFill>
                <a:latin typeface="Lucida Sans"/>
                <a:cs typeface="Lucida Sans"/>
              </a:rPr>
              <a:t> </a:t>
            </a:r>
            <a:r>
              <a:rPr sz="1350" spc="-10" dirty="0">
                <a:solidFill>
                  <a:srgbClr val="F1F4F9"/>
                </a:solidFill>
                <a:latin typeface="Lucida Sans"/>
                <a:cs typeface="Lucida Sans"/>
              </a:rPr>
              <a:t>verification.</a:t>
            </a:r>
            <a:endParaRPr sz="13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Retail Transaction Analytics Platform</vt:lpstr>
      <vt:lpstr>Problem Statement</vt:lpstr>
      <vt:lpstr>Architecture Diagram </vt:lpstr>
      <vt:lpstr>ETL s Memory Management</vt:lpstr>
      <vt:lpstr>Data Cleansing's Validation Rules</vt:lpstr>
      <vt:lpstr>Database Schema Design (Star Schema)</vt:lpstr>
      <vt:lpstr>Database Indexing Query Benchmarks</vt:lpstr>
      <vt:lpstr>Authentication RBAC Gate</vt:lpstr>
      <vt:lpstr>Incremental Ingestion </vt:lpstr>
      <vt:lpstr>Key Technical Outcomes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Transaction Analytics Platform</dc:title>
  <cp:revision>248</cp:revision>
  <dcterms:created xsi:type="dcterms:W3CDTF">2026-10-12T04:21:17Z</dcterms:created>
  <dcterms:modified xsi:type="dcterms:W3CDTF">2026-10-12T05:09:58Z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2026-10-12T00:00:00Z</vt:filetime>
  </property>
  <property fmtid="{D5CDD505-2E9C-101B-9397-08002B2CF9AE}" pid="4" name="Creator">
    <vt:lpwstr>Google</vt:lpwstr>
  </property>
  <property fmtid="{D5CDD505-2E9C-101B-9397-08002B2CF9AE}" pid="5" name="LastSaved">
    <vt:filetime>2026-10-12T00:00:00Z</vt:filetime>
  </property>
</Properties>
</file>